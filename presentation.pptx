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Montserrat"/>
      <p:regular r:id="rId16"/>
    </p:embeddedFont>
    <p:embeddedFont>
      <p:font typeface="Montserrat"/>
      <p:regular r:id="rId17"/>
    </p:embeddedFont>
    <p:embeddedFont>
      <p:font typeface="Montserrat"/>
      <p:regular r:id="rId18"/>
    </p:embeddedFont>
    <p:embeddedFont>
      <p:font typeface="Montserrat"/>
      <p:regular r:id="rId19"/>
    </p:embeddedFont>
    <p:embeddedFont>
      <p:font typeface="Source Sans 3"/>
      <p:regular r:id="rId20"/>
    </p:embeddedFont>
    <p:embeddedFont>
      <p:font typeface="Source Sans 3"/>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198" y="3062883"/>
            <a:ext cx="7416403" cy="2103834"/>
          </a:xfrm>
          <a:prstGeom prst="rect">
            <a:avLst/>
          </a:prstGeom>
          <a:noFill/>
          <a:ln/>
        </p:spPr>
        <p:txBody>
          <a:bodyPr wrap="square" lIns="0" tIns="0" rIns="0" bIns="0" rtlCol="0" anchor="t"/>
          <a:lstStyle/>
          <a:p>
            <a:pPr algn="l" indent="0" marL="0">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Project Idea — Smart Maintenance &amp; Operations Dashboard</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2268022"/>
            <a:ext cx="5609749" cy="701278"/>
          </a:xfrm>
          <a:prstGeom prst="rect">
            <a:avLst/>
          </a:prstGeom>
          <a:noFill/>
          <a:ln/>
        </p:spPr>
        <p:txBody>
          <a:bodyPr wrap="none" lIns="0" tIns="0" rIns="0" bIns="0" rtlCol="0" anchor="t"/>
          <a:lstStyle/>
          <a:p>
            <a:pPr algn="l" indent="0" marL="0">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The Challenge</a:t>
            </a:r>
            <a:endParaRPr lang="en-US" sz="4400" dirty="0"/>
          </a:p>
        </p:txBody>
      </p:sp>
      <p:sp>
        <p:nvSpPr>
          <p:cNvPr id="3" name="Text 1"/>
          <p:cNvSpPr/>
          <p:nvPr/>
        </p:nvSpPr>
        <p:spPr>
          <a:xfrm>
            <a:off x="863798" y="3462933"/>
            <a:ext cx="12902803" cy="1480661"/>
          </a:xfrm>
          <a:prstGeom prst="rect">
            <a:avLst/>
          </a:prstGeom>
          <a:noFill/>
          <a:ln/>
        </p:spPr>
        <p:txBody>
          <a:bodyPr wrap="squar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The project is a unified, real-time maintenance and production intelligence dashboard designed for factories and industrial operations. Every day, massive amounts of data are generated by machines, operators, sensors, production batches, and maintenance logs. Managers and directors do not have the time to analyze thousands of raw data points to make quick decisions.</a:t>
            </a:r>
            <a:endParaRPr lang="en-US" sz="1900" dirty="0"/>
          </a:p>
        </p:txBody>
      </p:sp>
      <p:sp>
        <p:nvSpPr>
          <p:cNvPr id="4" name="Text 2"/>
          <p:cNvSpPr/>
          <p:nvPr/>
        </p:nvSpPr>
        <p:spPr>
          <a:xfrm>
            <a:off x="863798" y="5221248"/>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This dashboard solves that problem by converting complex operational data into simple, actionable visuals—allowing leaders to make decisions instantly, reduce downtime, optimize productivity, and improve safety and quality.</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9254" y="599123"/>
            <a:ext cx="7804190" cy="575191"/>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Montserrat Bold" pitchFamily="34" charset="0"/>
                <a:ea typeface="Montserrat Bold" pitchFamily="34" charset="-122"/>
                <a:cs typeface="Montserrat Bold" pitchFamily="34" charset="-120"/>
              </a:rPr>
              <a:t>📌</a:t>
            </a:r>
            <a:pPr algn="l" indent="0" marL="0">
              <a:lnSpc>
                <a:spcPts val="4450"/>
              </a:lnSpc>
              <a:buNone/>
            </a:pPr>
            <a:r>
              <a:rPr lang="en-US" sz="3550" b="1" dirty="0">
                <a:solidFill>
                  <a:srgbClr val="FFFFFF"/>
                </a:solidFill>
                <a:latin typeface="Montserrat Bold" pitchFamily="34" charset="0"/>
                <a:ea typeface="Montserrat Bold" pitchFamily="34" charset="-122"/>
                <a:cs typeface="Montserrat Bold" pitchFamily="34" charset="-120"/>
              </a:rPr>
              <a:t> Why This Project Is Important</a:t>
            </a:r>
            <a:endParaRPr lang="en-US" sz="3550" dirty="0"/>
          </a:p>
        </p:txBody>
      </p:sp>
      <p:sp>
        <p:nvSpPr>
          <p:cNvPr id="3" name="Shape 1"/>
          <p:cNvSpPr/>
          <p:nvPr/>
        </p:nvSpPr>
        <p:spPr>
          <a:xfrm>
            <a:off x="699254" y="1573887"/>
            <a:ext cx="449580" cy="449580"/>
          </a:xfrm>
          <a:prstGeom prst="roundRect">
            <a:avLst>
              <a:gd name="adj" fmla="val 6667"/>
            </a:avLst>
          </a:prstGeom>
          <a:solidFill>
            <a:srgbClr val="303132"/>
          </a:solidFill>
          <a:ln/>
        </p:spPr>
      </p:sp>
      <p:sp>
        <p:nvSpPr>
          <p:cNvPr id="4" name="Text 2"/>
          <p:cNvSpPr/>
          <p:nvPr/>
        </p:nvSpPr>
        <p:spPr>
          <a:xfrm>
            <a:off x="787837" y="1628418"/>
            <a:ext cx="272415" cy="340519"/>
          </a:xfrm>
          <a:prstGeom prst="rect">
            <a:avLst/>
          </a:prstGeom>
          <a:noFill/>
          <a:ln/>
        </p:spPr>
        <p:txBody>
          <a:bodyPr wrap="none" lIns="0" tIns="0" rIns="0" bIns="0" rtlCol="0" anchor="t"/>
          <a:lstStyle/>
          <a:p>
            <a:pPr algn="ctr" indent="0" marL="0">
              <a:lnSpc>
                <a:spcPts val="2100"/>
              </a:lnSpc>
              <a:buNone/>
            </a:pPr>
            <a:r>
              <a:rPr lang="en-US" sz="2100" b="1" dirty="0">
                <a:solidFill>
                  <a:srgbClr val="E2E6E9"/>
                </a:solidFill>
                <a:latin typeface="Montserrat Bold" pitchFamily="34" charset="0"/>
                <a:ea typeface="Montserrat Bold" pitchFamily="34" charset="-122"/>
                <a:cs typeface="Montserrat Bold" pitchFamily="34" charset="-120"/>
              </a:rPr>
              <a:t>1</a:t>
            </a:r>
            <a:endParaRPr lang="en-US" sz="2100" dirty="0"/>
          </a:p>
        </p:txBody>
      </p:sp>
      <p:sp>
        <p:nvSpPr>
          <p:cNvPr id="5" name="Text 3"/>
          <p:cNvSpPr/>
          <p:nvPr/>
        </p:nvSpPr>
        <p:spPr>
          <a:xfrm>
            <a:off x="1348621" y="1642467"/>
            <a:ext cx="3114080" cy="283726"/>
          </a:xfrm>
          <a:prstGeom prst="rect">
            <a:avLst/>
          </a:prstGeom>
          <a:noFill/>
          <a:ln/>
        </p:spPr>
        <p:txBody>
          <a:bodyPr wrap="none" lIns="0" tIns="0" rIns="0" bIns="0" rtlCol="0" anchor="t"/>
          <a:lstStyle/>
          <a:p>
            <a:pPr algn="l" indent="0" marL="0">
              <a:lnSpc>
                <a:spcPts val="2200"/>
              </a:lnSpc>
              <a:buNone/>
            </a:pPr>
            <a:r>
              <a:rPr lang="en-US" sz="1750" b="1" dirty="0">
                <a:solidFill>
                  <a:srgbClr val="E2E6E9"/>
                </a:solidFill>
                <a:latin typeface="Montserrat Bold" pitchFamily="34" charset="0"/>
                <a:ea typeface="Montserrat Bold" pitchFamily="34" charset="-122"/>
                <a:cs typeface="Montserrat Bold" pitchFamily="34" charset="-120"/>
              </a:rPr>
              <a:t>Speed of Decision-Making</a:t>
            </a:r>
            <a:endParaRPr lang="en-US" sz="1750" dirty="0"/>
          </a:p>
        </p:txBody>
      </p:sp>
      <p:sp>
        <p:nvSpPr>
          <p:cNvPr id="6" name="Text 4"/>
          <p:cNvSpPr/>
          <p:nvPr/>
        </p:nvSpPr>
        <p:spPr>
          <a:xfrm>
            <a:off x="1348621" y="2045970"/>
            <a:ext cx="12582525" cy="599361"/>
          </a:xfrm>
          <a:prstGeom prst="rect">
            <a:avLst/>
          </a:prstGeom>
          <a:noFill/>
          <a:ln/>
        </p:spPr>
        <p:txBody>
          <a:bodyPr wrap="square" lIns="0" tIns="0" rIns="0" bIns="0" rtlCol="0" anchor="t"/>
          <a:lstStyle/>
          <a:p>
            <a:pPr algn="l" indent="0" marL="0">
              <a:lnSpc>
                <a:spcPts val="2350"/>
              </a:lnSpc>
              <a:buNone/>
            </a:pPr>
            <a:r>
              <a:rPr lang="en-US" sz="1550" dirty="0">
                <a:solidFill>
                  <a:srgbClr val="E2E6E9"/>
                </a:solidFill>
                <a:latin typeface="Source Sans 3" pitchFamily="34" charset="0"/>
                <a:ea typeface="Source Sans 3" pitchFamily="34" charset="-122"/>
                <a:cs typeface="Source Sans 3" pitchFamily="34" charset="-120"/>
              </a:rPr>
              <a:t>Industrial environments move fast. A small delay in detecting a machine failure or quality issue can cost hours of downtime and thousands of dollars. A real-time dashboard ensures the right people see problems the moment they happen.</a:t>
            </a:r>
            <a:endParaRPr lang="en-US" sz="1550" dirty="0"/>
          </a:p>
        </p:txBody>
      </p:sp>
      <p:sp>
        <p:nvSpPr>
          <p:cNvPr id="7" name="Shape 5"/>
          <p:cNvSpPr/>
          <p:nvPr/>
        </p:nvSpPr>
        <p:spPr>
          <a:xfrm>
            <a:off x="699254" y="3044904"/>
            <a:ext cx="449580" cy="449580"/>
          </a:xfrm>
          <a:prstGeom prst="roundRect">
            <a:avLst>
              <a:gd name="adj" fmla="val 6667"/>
            </a:avLst>
          </a:prstGeom>
          <a:solidFill>
            <a:srgbClr val="303132"/>
          </a:solidFill>
          <a:ln/>
        </p:spPr>
      </p:sp>
      <p:sp>
        <p:nvSpPr>
          <p:cNvPr id="8" name="Text 6"/>
          <p:cNvSpPr/>
          <p:nvPr/>
        </p:nvSpPr>
        <p:spPr>
          <a:xfrm>
            <a:off x="787837" y="3099435"/>
            <a:ext cx="272415" cy="340519"/>
          </a:xfrm>
          <a:prstGeom prst="rect">
            <a:avLst/>
          </a:prstGeom>
          <a:noFill/>
          <a:ln/>
        </p:spPr>
        <p:txBody>
          <a:bodyPr wrap="none" lIns="0" tIns="0" rIns="0" bIns="0" rtlCol="0" anchor="t"/>
          <a:lstStyle/>
          <a:p>
            <a:pPr algn="ctr" indent="0" marL="0">
              <a:lnSpc>
                <a:spcPts val="2100"/>
              </a:lnSpc>
              <a:buNone/>
            </a:pPr>
            <a:r>
              <a:rPr lang="en-US" sz="2100" b="1" dirty="0">
                <a:solidFill>
                  <a:srgbClr val="E2E6E9"/>
                </a:solidFill>
                <a:latin typeface="Montserrat Bold" pitchFamily="34" charset="0"/>
                <a:ea typeface="Montserrat Bold" pitchFamily="34" charset="-122"/>
                <a:cs typeface="Montserrat Bold" pitchFamily="34" charset="-120"/>
              </a:rPr>
              <a:t>2</a:t>
            </a:r>
            <a:endParaRPr lang="en-US" sz="2100" dirty="0"/>
          </a:p>
        </p:txBody>
      </p:sp>
      <p:sp>
        <p:nvSpPr>
          <p:cNvPr id="9" name="Text 7"/>
          <p:cNvSpPr/>
          <p:nvPr/>
        </p:nvSpPr>
        <p:spPr>
          <a:xfrm>
            <a:off x="1348621" y="3113484"/>
            <a:ext cx="3593306" cy="283726"/>
          </a:xfrm>
          <a:prstGeom prst="rect">
            <a:avLst/>
          </a:prstGeom>
          <a:noFill/>
          <a:ln/>
        </p:spPr>
        <p:txBody>
          <a:bodyPr wrap="none" lIns="0" tIns="0" rIns="0" bIns="0" rtlCol="0" anchor="t"/>
          <a:lstStyle/>
          <a:p>
            <a:pPr algn="l" indent="0" marL="0">
              <a:lnSpc>
                <a:spcPts val="2200"/>
              </a:lnSpc>
              <a:buNone/>
            </a:pPr>
            <a:r>
              <a:rPr lang="en-US" sz="1750" b="1" dirty="0">
                <a:solidFill>
                  <a:srgbClr val="E2E6E9"/>
                </a:solidFill>
                <a:latin typeface="Montserrat Bold" pitchFamily="34" charset="0"/>
                <a:ea typeface="Montserrat Bold" pitchFamily="34" charset="-122"/>
                <a:cs typeface="Montserrat Bold" pitchFamily="34" charset="-120"/>
              </a:rPr>
              <a:t>Improved Machine Availability</a:t>
            </a:r>
            <a:endParaRPr lang="en-US" sz="1750" dirty="0"/>
          </a:p>
        </p:txBody>
      </p:sp>
      <p:sp>
        <p:nvSpPr>
          <p:cNvPr id="10" name="Text 8"/>
          <p:cNvSpPr/>
          <p:nvPr/>
        </p:nvSpPr>
        <p:spPr>
          <a:xfrm>
            <a:off x="1348621" y="3516987"/>
            <a:ext cx="12582525" cy="299680"/>
          </a:xfrm>
          <a:prstGeom prst="rect">
            <a:avLst/>
          </a:prstGeom>
          <a:noFill/>
          <a:ln/>
        </p:spPr>
        <p:txBody>
          <a:bodyPr wrap="none" lIns="0" tIns="0" rIns="0" bIns="0" rtlCol="0" anchor="t"/>
          <a:lstStyle/>
          <a:p>
            <a:pPr algn="l" indent="0" marL="0">
              <a:lnSpc>
                <a:spcPts val="2350"/>
              </a:lnSpc>
              <a:buNone/>
            </a:pPr>
            <a:r>
              <a:rPr lang="en-US" sz="1550" dirty="0">
                <a:solidFill>
                  <a:srgbClr val="E2E6E9"/>
                </a:solidFill>
                <a:latin typeface="Source Sans 3" pitchFamily="34" charset="0"/>
                <a:ea typeface="Source Sans 3" pitchFamily="34" charset="-122"/>
                <a:cs typeface="Source Sans 3" pitchFamily="34" charset="-120"/>
              </a:rPr>
              <a:t>Predictive maintenance and live monitoring reduce unplanned downtime, which increases production capacity and protects expensive equipment.</a:t>
            </a:r>
            <a:endParaRPr lang="en-US" sz="1550" dirty="0"/>
          </a:p>
        </p:txBody>
      </p:sp>
      <p:sp>
        <p:nvSpPr>
          <p:cNvPr id="11" name="Shape 9"/>
          <p:cNvSpPr/>
          <p:nvPr/>
        </p:nvSpPr>
        <p:spPr>
          <a:xfrm>
            <a:off x="699254" y="4216241"/>
            <a:ext cx="449580" cy="449580"/>
          </a:xfrm>
          <a:prstGeom prst="roundRect">
            <a:avLst>
              <a:gd name="adj" fmla="val 6667"/>
            </a:avLst>
          </a:prstGeom>
          <a:solidFill>
            <a:srgbClr val="303132"/>
          </a:solidFill>
          <a:ln/>
        </p:spPr>
      </p:sp>
      <p:sp>
        <p:nvSpPr>
          <p:cNvPr id="12" name="Text 10"/>
          <p:cNvSpPr/>
          <p:nvPr/>
        </p:nvSpPr>
        <p:spPr>
          <a:xfrm>
            <a:off x="787837" y="4270772"/>
            <a:ext cx="272415" cy="340519"/>
          </a:xfrm>
          <a:prstGeom prst="rect">
            <a:avLst/>
          </a:prstGeom>
          <a:noFill/>
          <a:ln/>
        </p:spPr>
        <p:txBody>
          <a:bodyPr wrap="none" lIns="0" tIns="0" rIns="0" bIns="0" rtlCol="0" anchor="t"/>
          <a:lstStyle/>
          <a:p>
            <a:pPr algn="ctr" indent="0" marL="0">
              <a:lnSpc>
                <a:spcPts val="2100"/>
              </a:lnSpc>
              <a:buNone/>
            </a:pPr>
            <a:r>
              <a:rPr lang="en-US" sz="2100" b="1" dirty="0">
                <a:solidFill>
                  <a:srgbClr val="E2E6E9"/>
                </a:solidFill>
                <a:latin typeface="Montserrat Bold" pitchFamily="34" charset="0"/>
                <a:ea typeface="Montserrat Bold" pitchFamily="34" charset="-122"/>
                <a:cs typeface="Montserrat Bold" pitchFamily="34" charset="-120"/>
              </a:rPr>
              <a:t>3</a:t>
            </a:r>
            <a:endParaRPr lang="en-US" sz="2100" dirty="0"/>
          </a:p>
        </p:txBody>
      </p:sp>
      <p:sp>
        <p:nvSpPr>
          <p:cNvPr id="13" name="Text 11"/>
          <p:cNvSpPr/>
          <p:nvPr/>
        </p:nvSpPr>
        <p:spPr>
          <a:xfrm>
            <a:off x="1348621" y="4284821"/>
            <a:ext cx="2746653" cy="283726"/>
          </a:xfrm>
          <a:prstGeom prst="rect">
            <a:avLst/>
          </a:prstGeom>
          <a:noFill/>
          <a:ln/>
        </p:spPr>
        <p:txBody>
          <a:bodyPr wrap="none" lIns="0" tIns="0" rIns="0" bIns="0" rtlCol="0" anchor="t"/>
          <a:lstStyle/>
          <a:p>
            <a:pPr algn="l" indent="0" marL="0">
              <a:lnSpc>
                <a:spcPts val="2200"/>
              </a:lnSpc>
              <a:buNone/>
            </a:pPr>
            <a:r>
              <a:rPr lang="en-US" sz="1750" b="1" dirty="0">
                <a:solidFill>
                  <a:srgbClr val="E2E6E9"/>
                </a:solidFill>
                <a:latin typeface="Montserrat Bold" pitchFamily="34" charset="0"/>
                <a:ea typeface="Montserrat Bold" pitchFamily="34" charset="-122"/>
                <a:cs typeface="Montserrat Bold" pitchFamily="34" charset="-120"/>
              </a:rPr>
              <a:t>Higher Product Quality</a:t>
            </a:r>
            <a:endParaRPr lang="en-US" sz="1750" dirty="0"/>
          </a:p>
        </p:txBody>
      </p:sp>
      <p:sp>
        <p:nvSpPr>
          <p:cNvPr id="14" name="Text 12"/>
          <p:cNvSpPr/>
          <p:nvPr/>
        </p:nvSpPr>
        <p:spPr>
          <a:xfrm>
            <a:off x="1348621" y="4688324"/>
            <a:ext cx="12582525" cy="299680"/>
          </a:xfrm>
          <a:prstGeom prst="rect">
            <a:avLst/>
          </a:prstGeom>
          <a:noFill/>
          <a:ln/>
        </p:spPr>
        <p:txBody>
          <a:bodyPr wrap="none" lIns="0" tIns="0" rIns="0" bIns="0" rtlCol="0" anchor="t"/>
          <a:lstStyle/>
          <a:p>
            <a:pPr algn="l" indent="0" marL="0">
              <a:lnSpc>
                <a:spcPts val="2350"/>
              </a:lnSpc>
              <a:buNone/>
            </a:pPr>
            <a:r>
              <a:rPr lang="en-US" sz="1550" dirty="0">
                <a:solidFill>
                  <a:srgbClr val="E2E6E9"/>
                </a:solidFill>
                <a:latin typeface="Source Sans 3" pitchFamily="34" charset="0"/>
                <a:ea typeface="Source Sans 3" pitchFamily="34" charset="-122"/>
                <a:cs typeface="Source Sans 3" pitchFamily="34" charset="-120"/>
              </a:rPr>
              <a:t>With real-time quality metrics, defect tracking, and yield analysis, managers can identify quality issues early before they turn into customer complaints.</a:t>
            </a:r>
            <a:endParaRPr lang="en-US" sz="1550" dirty="0"/>
          </a:p>
        </p:txBody>
      </p:sp>
      <p:sp>
        <p:nvSpPr>
          <p:cNvPr id="15" name="Shape 13"/>
          <p:cNvSpPr/>
          <p:nvPr/>
        </p:nvSpPr>
        <p:spPr>
          <a:xfrm>
            <a:off x="699254" y="5387578"/>
            <a:ext cx="449580" cy="449580"/>
          </a:xfrm>
          <a:prstGeom prst="roundRect">
            <a:avLst>
              <a:gd name="adj" fmla="val 6667"/>
            </a:avLst>
          </a:prstGeom>
          <a:solidFill>
            <a:srgbClr val="303132"/>
          </a:solidFill>
          <a:ln/>
        </p:spPr>
      </p:sp>
      <p:sp>
        <p:nvSpPr>
          <p:cNvPr id="16" name="Text 14"/>
          <p:cNvSpPr/>
          <p:nvPr/>
        </p:nvSpPr>
        <p:spPr>
          <a:xfrm>
            <a:off x="787837" y="5442109"/>
            <a:ext cx="272415" cy="340519"/>
          </a:xfrm>
          <a:prstGeom prst="rect">
            <a:avLst/>
          </a:prstGeom>
          <a:noFill/>
          <a:ln/>
        </p:spPr>
        <p:txBody>
          <a:bodyPr wrap="none" lIns="0" tIns="0" rIns="0" bIns="0" rtlCol="0" anchor="t"/>
          <a:lstStyle/>
          <a:p>
            <a:pPr algn="ctr" indent="0" marL="0">
              <a:lnSpc>
                <a:spcPts val="2100"/>
              </a:lnSpc>
              <a:buNone/>
            </a:pPr>
            <a:r>
              <a:rPr lang="en-US" sz="2100" b="1" dirty="0">
                <a:solidFill>
                  <a:srgbClr val="E2E6E9"/>
                </a:solidFill>
                <a:latin typeface="Montserrat Bold" pitchFamily="34" charset="0"/>
                <a:ea typeface="Montserrat Bold" pitchFamily="34" charset="-122"/>
                <a:cs typeface="Montserrat Bold" pitchFamily="34" charset="-120"/>
              </a:rPr>
              <a:t>4</a:t>
            </a:r>
            <a:endParaRPr lang="en-US" sz="2100" dirty="0"/>
          </a:p>
        </p:txBody>
      </p:sp>
      <p:sp>
        <p:nvSpPr>
          <p:cNvPr id="17" name="Text 15"/>
          <p:cNvSpPr/>
          <p:nvPr/>
        </p:nvSpPr>
        <p:spPr>
          <a:xfrm>
            <a:off x="1348621" y="5456158"/>
            <a:ext cx="2873454" cy="283726"/>
          </a:xfrm>
          <a:prstGeom prst="rect">
            <a:avLst/>
          </a:prstGeom>
          <a:noFill/>
          <a:ln/>
        </p:spPr>
        <p:txBody>
          <a:bodyPr wrap="none" lIns="0" tIns="0" rIns="0" bIns="0" rtlCol="0" anchor="t"/>
          <a:lstStyle/>
          <a:p>
            <a:pPr algn="l" indent="0" marL="0">
              <a:lnSpc>
                <a:spcPts val="2200"/>
              </a:lnSpc>
              <a:buNone/>
            </a:pPr>
            <a:r>
              <a:rPr lang="en-US" sz="1750" b="1" dirty="0">
                <a:solidFill>
                  <a:srgbClr val="E2E6E9"/>
                </a:solidFill>
                <a:latin typeface="Montserrat Bold" pitchFamily="34" charset="0"/>
                <a:ea typeface="Montserrat Bold" pitchFamily="34" charset="-122"/>
                <a:cs typeface="Montserrat Bold" pitchFamily="34" charset="-120"/>
              </a:rPr>
              <a:t>Workforce Optimization</a:t>
            </a:r>
            <a:endParaRPr lang="en-US" sz="1750" dirty="0"/>
          </a:p>
        </p:txBody>
      </p:sp>
      <p:sp>
        <p:nvSpPr>
          <p:cNvPr id="18" name="Text 16"/>
          <p:cNvSpPr/>
          <p:nvPr/>
        </p:nvSpPr>
        <p:spPr>
          <a:xfrm>
            <a:off x="1348621" y="5859661"/>
            <a:ext cx="12582525" cy="299680"/>
          </a:xfrm>
          <a:prstGeom prst="rect">
            <a:avLst/>
          </a:prstGeom>
          <a:noFill/>
          <a:ln/>
        </p:spPr>
        <p:txBody>
          <a:bodyPr wrap="none" lIns="0" tIns="0" rIns="0" bIns="0" rtlCol="0" anchor="t"/>
          <a:lstStyle/>
          <a:p>
            <a:pPr algn="l" indent="0" marL="0">
              <a:lnSpc>
                <a:spcPts val="2350"/>
              </a:lnSpc>
              <a:buNone/>
            </a:pPr>
            <a:r>
              <a:rPr lang="en-US" sz="1550" dirty="0">
                <a:solidFill>
                  <a:srgbClr val="E2E6E9"/>
                </a:solidFill>
                <a:latin typeface="Source Sans 3" pitchFamily="34" charset="0"/>
                <a:ea typeface="Source Sans 3" pitchFamily="34" charset="-122"/>
                <a:cs typeface="Source Sans 3" pitchFamily="34" charset="-120"/>
              </a:rPr>
              <a:t>Operator data, safety scores, and shift assignments help management distribute labor more effectively and identify training needs.</a:t>
            </a:r>
            <a:endParaRPr lang="en-US" sz="1550" dirty="0"/>
          </a:p>
        </p:txBody>
      </p:sp>
      <p:sp>
        <p:nvSpPr>
          <p:cNvPr id="19" name="Shape 17"/>
          <p:cNvSpPr/>
          <p:nvPr/>
        </p:nvSpPr>
        <p:spPr>
          <a:xfrm>
            <a:off x="699254" y="6558915"/>
            <a:ext cx="449580" cy="449580"/>
          </a:xfrm>
          <a:prstGeom prst="roundRect">
            <a:avLst>
              <a:gd name="adj" fmla="val 6667"/>
            </a:avLst>
          </a:prstGeom>
          <a:solidFill>
            <a:srgbClr val="303132"/>
          </a:solidFill>
          <a:ln/>
        </p:spPr>
      </p:sp>
      <p:sp>
        <p:nvSpPr>
          <p:cNvPr id="20" name="Text 18"/>
          <p:cNvSpPr/>
          <p:nvPr/>
        </p:nvSpPr>
        <p:spPr>
          <a:xfrm>
            <a:off x="787837" y="6613446"/>
            <a:ext cx="272415" cy="340519"/>
          </a:xfrm>
          <a:prstGeom prst="rect">
            <a:avLst/>
          </a:prstGeom>
          <a:noFill/>
          <a:ln/>
        </p:spPr>
        <p:txBody>
          <a:bodyPr wrap="none" lIns="0" tIns="0" rIns="0" bIns="0" rtlCol="0" anchor="t"/>
          <a:lstStyle/>
          <a:p>
            <a:pPr algn="ctr" indent="0" marL="0">
              <a:lnSpc>
                <a:spcPts val="2100"/>
              </a:lnSpc>
              <a:buNone/>
            </a:pPr>
            <a:r>
              <a:rPr lang="en-US" sz="2100" b="1" dirty="0">
                <a:solidFill>
                  <a:srgbClr val="E2E6E9"/>
                </a:solidFill>
                <a:latin typeface="Montserrat Bold" pitchFamily="34" charset="0"/>
                <a:ea typeface="Montserrat Bold" pitchFamily="34" charset="-122"/>
                <a:cs typeface="Montserrat Bold" pitchFamily="34" charset="-120"/>
              </a:rPr>
              <a:t>5</a:t>
            </a:r>
            <a:endParaRPr lang="en-US" sz="2100" dirty="0"/>
          </a:p>
        </p:txBody>
      </p:sp>
      <p:sp>
        <p:nvSpPr>
          <p:cNvPr id="21" name="Text 19"/>
          <p:cNvSpPr/>
          <p:nvPr/>
        </p:nvSpPr>
        <p:spPr>
          <a:xfrm>
            <a:off x="1348621" y="6627495"/>
            <a:ext cx="2270522" cy="283726"/>
          </a:xfrm>
          <a:prstGeom prst="rect">
            <a:avLst/>
          </a:prstGeom>
          <a:noFill/>
          <a:ln/>
        </p:spPr>
        <p:txBody>
          <a:bodyPr wrap="none" lIns="0" tIns="0" rIns="0" bIns="0" rtlCol="0" anchor="t"/>
          <a:lstStyle/>
          <a:p>
            <a:pPr algn="l" indent="0" marL="0">
              <a:lnSpc>
                <a:spcPts val="2200"/>
              </a:lnSpc>
              <a:buNone/>
            </a:pPr>
            <a:r>
              <a:rPr lang="en-US" sz="1750" b="1" dirty="0">
                <a:solidFill>
                  <a:srgbClr val="E2E6E9"/>
                </a:solidFill>
                <a:latin typeface="Montserrat Bold" pitchFamily="34" charset="0"/>
                <a:ea typeface="Montserrat Bold" pitchFamily="34" charset="-122"/>
                <a:cs typeface="Montserrat Bold" pitchFamily="34" charset="-120"/>
              </a:rPr>
              <a:t>Cost Control</a:t>
            </a:r>
            <a:endParaRPr lang="en-US" sz="1750" dirty="0"/>
          </a:p>
        </p:txBody>
      </p:sp>
      <p:sp>
        <p:nvSpPr>
          <p:cNvPr id="22" name="Text 20"/>
          <p:cNvSpPr/>
          <p:nvPr/>
        </p:nvSpPr>
        <p:spPr>
          <a:xfrm>
            <a:off x="1348621" y="7030998"/>
            <a:ext cx="12582525" cy="599361"/>
          </a:xfrm>
          <a:prstGeom prst="rect">
            <a:avLst/>
          </a:prstGeom>
          <a:noFill/>
          <a:ln/>
        </p:spPr>
        <p:txBody>
          <a:bodyPr wrap="square" lIns="0" tIns="0" rIns="0" bIns="0" rtlCol="0" anchor="t"/>
          <a:lstStyle/>
          <a:p>
            <a:pPr algn="l" indent="0" marL="0">
              <a:lnSpc>
                <a:spcPts val="2350"/>
              </a:lnSpc>
              <a:buNone/>
            </a:pPr>
            <a:r>
              <a:rPr lang="en-US" sz="1550" dirty="0">
                <a:solidFill>
                  <a:srgbClr val="E2E6E9"/>
                </a:solidFill>
                <a:latin typeface="Source Sans 3" pitchFamily="34" charset="0"/>
                <a:ea typeface="Source Sans 3" pitchFamily="34" charset="-122"/>
                <a:cs typeface="Source Sans 3" pitchFamily="34" charset="-120"/>
              </a:rPr>
              <a:t>By analyzing cost per unit, cost breakdowns, and maintenance spending, companies can quickly identify inefficiencies and drive continuous improvement.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791766"/>
            <a:ext cx="12902803" cy="141017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a:t>
            </a:r>
            <a:pPr algn="l" indent="0" marL="0">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 Project Explanation (by Dashboard Modules)</a:t>
            </a:r>
            <a:endParaRPr lang="en-US" sz="4400" dirty="0"/>
          </a:p>
        </p:txBody>
      </p:sp>
      <p:sp>
        <p:nvSpPr>
          <p:cNvPr id="3" name="Shape 1"/>
          <p:cNvSpPr/>
          <p:nvPr/>
        </p:nvSpPr>
        <p:spPr>
          <a:xfrm>
            <a:off x="863798" y="2695575"/>
            <a:ext cx="6327934" cy="4742140"/>
          </a:xfrm>
          <a:prstGeom prst="roundRect">
            <a:avLst>
              <a:gd name="adj" fmla="val 781"/>
            </a:avLst>
          </a:prstGeom>
          <a:solidFill>
            <a:srgbClr val="111213"/>
          </a:solidFill>
          <a:ln w="30480">
            <a:solidFill>
              <a:srgbClr val="494A4B"/>
            </a:solidFill>
            <a:prstDash val="solid"/>
          </a:ln>
        </p:spPr>
      </p:sp>
      <p:sp>
        <p:nvSpPr>
          <p:cNvPr id="4" name="Text 2"/>
          <p:cNvSpPr/>
          <p:nvPr/>
        </p:nvSpPr>
        <p:spPr>
          <a:xfrm>
            <a:off x="1141095" y="2972872"/>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Live Floor Panel</a:t>
            </a:r>
            <a:endParaRPr lang="en-US" sz="2200" dirty="0"/>
          </a:p>
        </p:txBody>
      </p:sp>
      <p:sp>
        <p:nvSpPr>
          <p:cNvPr id="5" name="Text 3"/>
          <p:cNvSpPr/>
          <p:nvPr/>
        </p:nvSpPr>
        <p:spPr>
          <a:xfrm>
            <a:off x="1141095" y="3471505"/>
            <a:ext cx="5773341" cy="370165"/>
          </a:xfrm>
          <a:prstGeom prst="rect">
            <a:avLst/>
          </a:prstGeom>
          <a:noFill/>
          <a:ln/>
        </p:spPr>
        <p:txBody>
          <a:bodyPr wrap="non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Shows real-time machine status:</a:t>
            </a:r>
            <a:endParaRPr lang="en-US" sz="1900" dirty="0"/>
          </a:p>
        </p:txBody>
      </p:sp>
      <p:sp>
        <p:nvSpPr>
          <p:cNvPr id="6" name="Text 4"/>
          <p:cNvSpPr/>
          <p:nvPr/>
        </p:nvSpPr>
        <p:spPr>
          <a:xfrm>
            <a:off x="1141095" y="3989665"/>
            <a:ext cx="5773341"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Active Machines vs Down Machines</a:t>
            </a:r>
            <a:endParaRPr lang="en-US" sz="1900" dirty="0"/>
          </a:p>
        </p:txBody>
      </p:sp>
      <p:sp>
        <p:nvSpPr>
          <p:cNvPr id="7" name="Text 5"/>
          <p:cNvSpPr/>
          <p:nvPr/>
        </p:nvSpPr>
        <p:spPr>
          <a:xfrm>
            <a:off x="1141095" y="4446151"/>
            <a:ext cx="5773341"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Reasons for Downtime</a:t>
            </a:r>
            <a:endParaRPr lang="en-US" sz="1900" dirty="0"/>
          </a:p>
        </p:txBody>
      </p:sp>
      <p:sp>
        <p:nvSpPr>
          <p:cNvPr id="8" name="Text 6"/>
          <p:cNvSpPr/>
          <p:nvPr/>
        </p:nvSpPr>
        <p:spPr>
          <a:xfrm>
            <a:off x="1141095" y="4902637"/>
            <a:ext cx="5773341"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Department Overview</a:t>
            </a:r>
            <a:endParaRPr lang="en-US" sz="1900" dirty="0"/>
          </a:p>
        </p:txBody>
      </p:sp>
      <p:sp>
        <p:nvSpPr>
          <p:cNvPr id="9" name="Text 7"/>
          <p:cNvSpPr/>
          <p:nvPr/>
        </p:nvSpPr>
        <p:spPr>
          <a:xfrm>
            <a:off x="1141095" y="5420797"/>
            <a:ext cx="5773341" cy="740331"/>
          </a:xfrm>
          <a:prstGeom prst="rect">
            <a:avLst/>
          </a:prstGeom>
          <a:noFill/>
          <a:ln/>
        </p:spPr>
        <p:txBody>
          <a:bodyPr wrap="squar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This helps supervisors instantly see bottlenecks and take action.</a:t>
            </a:r>
            <a:endParaRPr lang="en-US" sz="1900" dirty="0"/>
          </a:p>
        </p:txBody>
      </p:sp>
      <p:sp>
        <p:nvSpPr>
          <p:cNvPr id="10" name="Shape 8"/>
          <p:cNvSpPr/>
          <p:nvPr/>
        </p:nvSpPr>
        <p:spPr>
          <a:xfrm>
            <a:off x="7438549" y="2695575"/>
            <a:ext cx="6328053" cy="4742140"/>
          </a:xfrm>
          <a:prstGeom prst="roundRect">
            <a:avLst>
              <a:gd name="adj" fmla="val 781"/>
            </a:avLst>
          </a:prstGeom>
          <a:solidFill>
            <a:srgbClr val="111213"/>
          </a:solidFill>
          <a:ln w="30480">
            <a:solidFill>
              <a:srgbClr val="494A4B"/>
            </a:solidFill>
            <a:prstDash val="solid"/>
          </a:ln>
        </p:spPr>
      </p:sp>
      <p:sp>
        <p:nvSpPr>
          <p:cNvPr id="11" name="Text 9"/>
          <p:cNvSpPr/>
          <p:nvPr/>
        </p:nvSpPr>
        <p:spPr>
          <a:xfrm>
            <a:off x="7715845" y="2972872"/>
            <a:ext cx="3821787" cy="350639"/>
          </a:xfrm>
          <a:prstGeom prst="rect">
            <a:avLst/>
          </a:prstGeom>
          <a:noFill/>
          <a:ln/>
        </p:spPr>
        <p:txBody>
          <a:bodyPr wrap="none" lIns="0" tIns="0" rIns="0" bIns="0" rtlCol="0" anchor="t"/>
          <a:lstStyle/>
          <a:p>
            <a:pPr algn="l" indent="0" marL="0">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Production Batches Panel</a:t>
            </a:r>
            <a:endParaRPr lang="en-US" sz="2200" dirty="0"/>
          </a:p>
        </p:txBody>
      </p:sp>
      <p:sp>
        <p:nvSpPr>
          <p:cNvPr id="12" name="Text 10"/>
          <p:cNvSpPr/>
          <p:nvPr/>
        </p:nvSpPr>
        <p:spPr>
          <a:xfrm>
            <a:off x="7715845" y="3471505"/>
            <a:ext cx="5773460" cy="370165"/>
          </a:xfrm>
          <a:prstGeom prst="rect">
            <a:avLst/>
          </a:prstGeom>
          <a:noFill/>
          <a:ln/>
        </p:spPr>
        <p:txBody>
          <a:bodyPr wrap="non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Tracks the entire production process:</a:t>
            </a:r>
            <a:endParaRPr lang="en-US" sz="1900" dirty="0"/>
          </a:p>
        </p:txBody>
      </p:sp>
      <p:sp>
        <p:nvSpPr>
          <p:cNvPr id="13" name="Text 11"/>
          <p:cNvSpPr/>
          <p:nvPr/>
        </p:nvSpPr>
        <p:spPr>
          <a:xfrm>
            <a:off x="7715845" y="3989665"/>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Batch progress over time</a:t>
            </a:r>
            <a:endParaRPr lang="en-US" sz="1900" dirty="0"/>
          </a:p>
        </p:txBody>
      </p:sp>
      <p:sp>
        <p:nvSpPr>
          <p:cNvPr id="14" name="Text 12"/>
          <p:cNvSpPr/>
          <p:nvPr/>
        </p:nvSpPr>
        <p:spPr>
          <a:xfrm>
            <a:off x="7715845" y="4446151"/>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Department performance</a:t>
            </a:r>
            <a:endParaRPr lang="en-US" sz="1900" dirty="0"/>
          </a:p>
        </p:txBody>
      </p:sp>
      <p:sp>
        <p:nvSpPr>
          <p:cNvPr id="15" name="Text 13"/>
          <p:cNvSpPr/>
          <p:nvPr/>
        </p:nvSpPr>
        <p:spPr>
          <a:xfrm>
            <a:off x="7715845" y="4902637"/>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Quality metrics for each batch</a:t>
            </a:r>
            <a:endParaRPr lang="en-US" sz="1900" dirty="0"/>
          </a:p>
        </p:txBody>
      </p:sp>
      <p:sp>
        <p:nvSpPr>
          <p:cNvPr id="16" name="Text 14"/>
          <p:cNvSpPr/>
          <p:nvPr/>
        </p:nvSpPr>
        <p:spPr>
          <a:xfrm>
            <a:off x="7715845" y="5359122"/>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Machines involved</a:t>
            </a:r>
            <a:endParaRPr lang="en-US" sz="1900" dirty="0"/>
          </a:p>
        </p:txBody>
      </p:sp>
      <p:sp>
        <p:nvSpPr>
          <p:cNvPr id="17" name="Text 15"/>
          <p:cNvSpPr/>
          <p:nvPr/>
        </p:nvSpPr>
        <p:spPr>
          <a:xfrm>
            <a:off x="7715845" y="5815608"/>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Operators working</a:t>
            </a:r>
            <a:endParaRPr lang="en-US" sz="1900" dirty="0"/>
          </a:p>
        </p:txBody>
      </p:sp>
      <p:sp>
        <p:nvSpPr>
          <p:cNvPr id="18" name="Text 16"/>
          <p:cNvSpPr/>
          <p:nvPr/>
        </p:nvSpPr>
        <p:spPr>
          <a:xfrm>
            <a:off x="7715845" y="6272093"/>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Live machine activities</a:t>
            </a:r>
            <a:endParaRPr lang="en-US" sz="1900" dirty="0"/>
          </a:p>
        </p:txBody>
      </p:sp>
      <p:sp>
        <p:nvSpPr>
          <p:cNvPr id="19" name="Text 17"/>
          <p:cNvSpPr/>
          <p:nvPr/>
        </p:nvSpPr>
        <p:spPr>
          <a:xfrm>
            <a:off x="7715845" y="6790253"/>
            <a:ext cx="5773460" cy="370165"/>
          </a:xfrm>
          <a:prstGeom prst="rect">
            <a:avLst/>
          </a:prstGeom>
          <a:noFill/>
          <a:ln/>
        </p:spPr>
        <p:txBody>
          <a:bodyPr wrap="non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This provides end-to-end visibility for every order.</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56655" y="673060"/>
            <a:ext cx="9430345" cy="695444"/>
          </a:xfrm>
          <a:prstGeom prst="rect">
            <a:avLst/>
          </a:prstGeom>
          <a:noFill/>
          <a:ln/>
        </p:spPr>
        <p:txBody>
          <a:bodyPr wrap="none" lIns="0" tIns="0" rIns="0" bIns="0" rtlCol="0" anchor="t"/>
          <a:lstStyle/>
          <a:p>
            <a:pPr algn="l" indent="0" marL="0">
              <a:lnSpc>
                <a:spcPts val="5450"/>
              </a:lnSpc>
              <a:buNone/>
            </a:pPr>
            <a:r>
              <a:rPr lang="en-US" sz="4350" b="1" dirty="0">
                <a:solidFill>
                  <a:srgbClr val="FFFFFF"/>
                </a:solidFill>
                <a:latin typeface="Montserrat Bold" pitchFamily="34" charset="0"/>
                <a:ea typeface="Montserrat Bold" pitchFamily="34" charset="-122"/>
                <a:cs typeface="Montserrat Bold" pitchFamily="34" charset="-120"/>
              </a:rPr>
              <a:t>Dashboard Modules (Continued)</a:t>
            </a:r>
            <a:endParaRPr lang="en-US" sz="4350" dirty="0"/>
          </a:p>
        </p:txBody>
      </p:sp>
      <p:sp>
        <p:nvSpPr>
          <p:cNvPr id="3" name="Shape 1"/>
          <p:cNvSpPr/>
          <p:nvPr/>
        </p:nvSpPr>
        <p:spPr>
          <a:xfrm>
            <a:off x="856655" y="1857970"/>
            <a:ext cx="4142542" cy="5700355"/>
          </a:xfrm>
          <a:prstGeom prst="roundRect">
            <a:avLst>
              <a:gd name="adj" fmla="val 886"/>
            </a:avLst>
          </a:prstGeom>
          <a:solidFill>
            <a:srgbClr val="111213"/>
          </a:solidFill>
          <a:ln w="30480">
            <a:solidFill>
              <a:srgbClr val="494A4B"/>
            </a:solidFill>
            <a:prstDash val="solid"/>
          </a:ln>
        </p:spPr>
      </p:sp>
      <p:sp>
        <p:nvSpPr>
          <p:cNvPr id="4" name="Text 2"/>
          <p:cNvSpPr/>
          <p:nvPr/>
        </p:nvSpPr>
        <p:spPr>
          <a:xfrm>
            <a:off x="1131808" y="2133124"/>
            <a:ext cx="3592235" cy="695325"/>
          </a:xfrm>
          <a:prstGeom prst="rect">
            <a:avLst/>
          </a:prstGeom>
          <a:noFill/>
          <a:ln/>
        </p:spPr>
        <p:txBody>
          <a:bodyPr wrap="square" lIns="0" tIns="0" rIns="0" bIns="0" rtlCol="0" anchor="t"/>
          <a:lstStyle/>
          <a:p>
            <a:pPr algn="l" indent="0" marL="0">
              <a:lnSpc>
                <a:spcPts val="2700"/>
              </a:lnSpc>
              <a:buNone/>
            </a:pPr>
            <a:r>
              <a:rPr lang="en-US" sz="2150" b="1" dirty="0">
                <a:solidFill>
                  <a:srgbClr val="E2E6E9"/>
                </a:solidFill>
                <a:latin typeface="Montserrat Bold" pitchFamily="34" charset="0"/>
                <a:ea typeface="Montserrat Bold" pitchFamily="34" charset="-122"/>
                <a:cs typeface="Montserrat Bold" pitchFamily="34" charset="-120"/>
              </a:rPr>
              <a:t>Fleet &amp; Machine Management Panel</a:t>
            </a:r>
            <a:endParaRPr lang="en-US" sz="2150" dirty="0"/>
          </a:p>
        </p:txBody>
      </p:sp>
      <p:sp>
        <p:nvSpPr>
          <p:cNvPr id="5" name="Text 3"/>
          <p:cNvSpPr/>
          <p:nvPr/>
        </p:nvSpPr>
        <p:spPr>
          <a:xfrm>
            <a:off x="1131808" y="2975253"/>
            <a:ext cx="3592235" cy="734378"/>
          </a:xfrm>
          <a:prstGeom prst="rect">
            <a:avLst/>
          </a:prstGeom>
          <a:noFill/>
          <a:ln/>
        </p:spPr>
        <p:txBody>
          <a:bodyPr wrap="square" lIns="0" tIns="0" rIns="0" bIns="0" rtlCol="0" anchor="t"/>
          <a:lstStyle/>
          <a:p>
            <a:pPr algn="l" indent="0" marL="0">
              <a:lnSpc>
                <a:spcPts val="2850"/>
              </a:lnSpc>
              <a:buNone/>
            </a:pPr>
            <a:r>
              <a:rPr lang="en-US" sz="1900" dirty="0">
                <a:solidFill>
                  <a:srgbClr val="E2E6E9"/>
                </a:solidFill>
                <a:latin typeface="Source Sans 3" pitchFamily="34" charset="0"/>
                <a:ea typeface="Source Sans 3" pitchFamily="34" charset="-122"/>
                <a:cs typeface="Source Sans 3" pitchFamily="34" charset="-120"/>
              </a:rPr>
              <a:t>Shows comprehensive machine intelligence:</a:t>
            </a:r>
            <a:endParaRPr lang="en-US" sz="1900" dirty="0"/>
          </a:p>
        </p:txBody>
      </p:sp>
      <p:sp>
        <p:nvSpPr>
          <p:cNvPr id="6" name="Text 4"/>
          <p:cNvSpPr/>
          <p:nvPr/>
        </p:nvSpPr>
        <p:spPr>
          <a:xfrm>
            <a:off x="1131808" y="3856434"/>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Real-time sensor readings</a:t>
            </a:r>
            <a:endParaRPr lang="en-US" sz="1900" dirty="0"/>
          </a:p>
        </p:txBody>
      </p:sp>
      <p:sp>
        <p:nvSpPr>
          <p:cNvPr id="7" name="Text 5"/>
          <p:cNvSpPr/>
          <p:nvPr/>
        </p:nvSpPr>
        <p:spPr>
          <a:xfrm>
            <a:off x="1131808" y="4309229"/>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Today's production output</a:t>
            </a:r>
            <a:endParaRPr lang="en-US" sz="1900" dirty="0"/>
          </a:p>
        </p:txBody>
      </p:sp>
      <p:sp>
        <p:nvSpPr>
          <p:cNvPr id="8" name="Text 6"/>
          <p:cNvSpPr/>
          <p:nvPr/>
        </p:nvSpPr>
        <p:spPr>
          <a:xfrm>
            <a:off x="1131808" y="4762024"/>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Machine metadata &amp; history</a:t>
            </a:r>
            <a:endParaRPr lang="en-US" sz="1900" dirty="0"/>
          </a:p>
        </p:txBody>
      </p:sp>
      <p:sp>
        <p:nvSpPr>
          <p:cNvPr id="9" name="Text 7"/>
          <p:cNvSpPr/>
          <p:nvPr/>
        </p:nvSpPr>
        <p:spPr>
          <a:xfrm>
            <a:off x="1131808" y="5214818"/>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Maintenance logs</a:t>
            </a:r>
            <a:endParaRPr lang="en-US" sz="1900" dirty="0"/>
          </a:p>
        </p:txBody>
      </p:sp>
      <p:sp>
        <p:nvSpPr>
          <p:cNvPr id="10" name="Text 8"/>
          <p:cNvSpPr/>
          <p:nvPr/>
        </p:nvSpPr>
        <p:spPr>
          <a:xfrm>
            <a:off x="1131808" y="5667613"/>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Machine safety indicators</a:t>
            </a:r>
            <a:endParaRPr lang="en-US" sz="1900" dirty="0"/>
          </a:p>
        </p:txBody>
      </p:sp>
      <p:sp>
        <p:nvSpPr>
          <p:cNvPr id="11" name="Text 9"/>
          <p:cNvSpPr/>
          <p:nvPr/>
        </p:nvSpPr>
        <p:spPr>
          <a:xfrm>
            <a:off x="1131808" y="6181606"/>
            <a:ext cx="3592235" cy="1101566"/>
          </a:xfrm>
          <a:prstGeom prst="rect">
            <a:avLst/>
          </a:prstGeom>
          <a:noFill/>
          <a:ln/>
        </p:spPr>
        <p:txBody>
          <a:bodyPr wrap="square" lIns="0" tIns="0" rIns="0" bIns="0" rtlCol="0" anchor="t"/>
          <a:lstStyle/>
          <a:p>
            <a:pPr algn="l" indent="0" marL="0">
              <a:lnSpc>
                <a:spcPts val="2850"/>
              </a:lnSpc>
              <a:buNone/>
            </a:pPr>
            <a:r>
              <a:rPr lang="en-US" sz="1900" dirty="0">
                <a:solidFill>
                  <a:srgbClr val="E2E6E9"/>
                </a:solidFill>
                <a:latin typeface="Source Sans 3" pitchFamily="34" charset="0"/>
                <a:ea typeface="Source Sans 3" pitchFamily="34" charset="-122"/>
                <a:cs typeface="Source Sans 3" pitchFamily="34" charset="-120"/>
              </a:rPr>
              <a:t>This helps maintenance teams and engineers monitor and maintain the whole fleet efficiently.</a:t>
            </a:r>
            <a:endParaRPr lang="en-US" sz="1900" dirty="0"/>
          </a:p>
        </p:txBody>
      </p:sp>
      <p:sp>
        <p:nvSpPr>
          <p:cNvPr id="12" name="Shape 10"/>
          <p:cNvSpPr/>
          <p:nvPr/>
        </p:nvSpPr>
        <p:spPr>
          <a:xfrm>
            <a:off x="5243870" y="1857970"/>
            <a:ext cx="4142542" cy="5700355"/>
          </a:xfrm>
          <a:prstGeom prst="roundRect">
            <a:avLst>
              <a:gd name="adj" fmla="val 886"/>
            </a:avLst>
          </a:prstGeom>
          <a:solidFill>
            <a:srgbClr val="111213"/>
          </a:solidFill>
          <a:ln w="30480">
            <a:solidFill>
              <a:srgbClr val="494A4B"/>
            </a:solidFill>
            <a:prstDash val="solid"/>
          </a:ln>
        </p:spPr>
      </p:sp>
      <p:sp>
        <p:nvSpPr>
          <p:cNvPr id="13" name="Text 11"/>
          <p:cNvSpPr/>
          <p:nvPr/>
        </p:nvSpPr>
        <p:spPr>
          <a:xfrm>
            <a:off x="5519023" y="2133124"/>
            <a:ext cx="3333750" cy="347663"/>
          </a:xfrm>
          <a:prstGeom prst="rect">
            <a:avLst/>
          </a:prstGeom>
          <a:noFill/>
          <a:ln/>
        </p:spPr>
        <p:txBody>
          <a:bodyPr wrap="none" lIns="0" tIns="0" rIns="0" bIns="0" rtlCol="0" anchor="t"/>
          <a:lstStyle/>
          <a:p>
            <a:pPr algn="l" indent="0" marL="0">
              <a:lnSpc>
                <a:spcPts val="2700"/>
              </a:lnSpc>
              <a:buNone/>
            </a:pPr>
            <a:r>
              <a:rPr lang="en-US" sz="2150" b="1" dirty="0">
                <a:solidFill>
                  <a:srgbClr val="E2E6E9"/>
                </a:solidFill>
                <a:latin typeface="Montserrat Bold" pitchFamily="34" charset="0"/>
                <a:ea typeface="Montserrat Bold" pitchFamily="34" charset="-122"/>
                <a:cs typeface="Montserrat Bold" pitchFamily="34" charset="-120"/>
              </a:rPr>
              <a:t>Operator Management</a:t>
            </a:r>
            <a:endParaRPr lang="en-US" sz="2150" dirty="0"/>
          </a:p>
        </p:txBody>
      </p:sp>
      <p:sp>
        <p:nvSpPr>
          <p:cNvPr id="14" name="Text 12"/>
          <p:cNvSpPr/>
          <p:nvPr/>
        </p:nvSpPr>
        <p:spPr>
          <a:xfrm>
            <a:off x="5519023" y="2627590"/>
            <a:ext cx="3592235" cy="734378"/>
          </a:xfrm>
          <a:prstGeom prst="rect">
            <a:avLst/>
          </a:prstGeom>
          <a:noFill/>
          <a:ln/>
        </p:spPr>
        <p:txBody>
          <a:bodyPr wrap="square" lIns="0" tIns="0" rIns="0" bIns="0" rtlCol="0" anchor="t"/>
          <a:lstStyle/>
          <a:p>
            <a:pPr algn="l" indent="0" marL="0">
              <a:lnSpc>
                <a:spcPts val="2850"/>
              </a:lnSpc>
              <a:buNone/>
            </a:pPr>
            <a:r>
              <a:rPr lang="en-US" sz="1900" dirty="0">
                <a:solidFill>
                  <a:srgbClr val="E2E6E9"/>
                </a:solidFill>
                <a:latin typeface="Source Sans 3" pitchFamily="34" charset="0"/>
                <a:ea typeface="Source Sans 3" pitchFamily="34" charset="-122"/>
                <a:cs typeface="Source Sans 3" pitchFamily="34" charset="-120"/>
              </a:rPr>
              <a:t>Centralized place to manage workforce performance:</a:t>
            </a:r>
            <a:endParaRPr lang="en-US" sz="1900" dirty="0"/>
          </a:p>
        </p:txBody>
      </p:sp>
      <p:sp>
        <p:nvSpPr>
          <p:cNvPr id="15" name="Text 13"/>
          <p:cNvSpPr/>
          <p:nvPr/>
        </p:nvSpPr>
        <p:spPr>
          <a:xfrm>
            <a:off x="5519023" y="3508772"/>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Operator performance metrics</a:t>
            </a:r>
            <a:endParaRPr lang="en-US" sz="1900" dirty="0"/>
          </a:p>
        </p:txBody>
      </p:sp>
      <p:sp>
        <p:nvSpPr>
          <p:cNvPr id="16" name="Text 14"/>
          <p:cNvSpPr/>
          <p:nvPr/>
        </p:nvSpPr>
        <p:spPr>
          <a:xfrm>
            <a:off x="5519023" y="3961567"/>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Safety score</a:t>
            </a:r>
            <a:endParaRPr lang="en-US" sz="1900" dirty="0"/>
          </a:p>
        </p:txBody>
      </p:sp>
      <p:sp>
        <p:nvSpPr>
          <p:cNvPr id="17" name="Text 15"/>
          <p:cNvSpPr/>
          <p:nvPr/>
        </p:nvSpPr>
        <p:spPr>
          <a:xfrm>
            <a:off x="5519023" y="4414361"/>
            <a:ext cx="3592235"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Productivity data</a:t>
            </a:r>
            <a:endParaRPr lang="en-US" sz="1900" dirty="0"/>
          </a:p>
        </p:txBody>
      </p:sp>
      <p:sp>
        <p:nvSpPr>
          <p:cNvPr id="18" name="Text 16"/>
          <p:cNvSpPr/>
          <p:nvPr/>
        </p:nvSpPr>
        <p:spPr>
          <a:xfrm>
            <a:off x="5519023" y="4867156"/>
            <a:ext cx="3592235" cy="734378"/>
          </a:xfrm>
          <a:prstGeom prst="rect">
            <a:avLst/>
          </a:prstGeom>
          <a:noFill/>
          <a:ln/>
        </p:spPr>
        <p:txBody>
          <a:bodyPr wrap="squar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Shift assignment and attendance</a:t>
            </a:r>
            <a:endParaRPr lang="en-US" sz="1900" dirty="0"/>
          </a:p>
        </p:txBody>
      </p:sp>
      <p:sp>
        <p:nvSpPr>
          <p:cNvPr id="19" name="Text 17"/>
          <p:cNvSpPr/>
          <p:nvPr/>
        </p:nvSpPr>
        <p:spPr>
          <a:xfrm>
            <a:off x="5519023" y="5748338"/>
            <a:ext cx="3592235" cy="734378"/>
          </a:xfrm>
          <a:prstGeom prst="rect">
            <a:avLst/>
          </a:prstGeom>
          <a:noFill/>
          <a:ln/>
        </p:spPr>
        <p:txBody>
          <a:bodyPr wrap="square" lIns="0" tIns="0" rIns="0" bIns="0" rtlCol="0" anchor="t"/>
          <a:lstStyle/>
          <a:p>
            <a:pPr algn="l" indent="0" marL="0">
              <a:lnSpc>
                <a:spcPts val="2850"/>
              </a:lnSpc>
              <a:buNone/>
            </a:pPr>
            <a:r>
              <a:rPr lang="en-US" sz="1900" dirty="0">
                <a:solidFill>
                  <a:srgbClr val="E2E6E9"/>
                </a:solidFill>
                <a:latin typeface="Source Sans 3" pitchFamily="34" charset="0"/>
                <a:ea typeface="Source Sans 3" pitchFamily="34" charset="-122"/>
                <a:cs typeface="Source Sans 3" pitchFamily="34" charset="-120"/>
              </a:rPr>
              <a:t>Helps management build a safer and more skilled workforce.</a:t>
            </a:r>
            <a:endParaRPr lang="en-US" sz="1900" dirty="0"/>
          </a:p>
        </p:txBody>
      </p:sp>
      <p:sp>
        <p:nvSpPr>
          <p:cNvPr id="20" name="Shape 18"/>
          <p:cNvSpPr/>
          <p:nvPr/>
        </p:nvSpPr>
        <p:spPr>
          <a:xfrm>
            <a:off x="9631085" y="1857970"/>
            <a:ext cx="4142661" cy="5700355"/>
          </a:xfrm>
          <a:prstGeom prst="roundRect">
            <a:avLst>
              <a:gd name="adj" fmla="val 886"/>
            </a:avLst>
          </a:prstGeom>
          <a:solidFill>
            <a:srgbClr val="111213"/>
          </a:solidFill>
          <a:ln w="30480">
            <a:solidFill>
              <a:srgbClr val="494A4B"/>
            </a:solidFill>
            <a:prstDash val="solid"/>
          </a:ln>
        </p:spPr>
      </p:sp>
      <p:sp>
        <p:nvSpPr>
          <p:cNvPr id="21" name="Text 19"/>
          <p:cNvSpPr/>
          <p:nvPr/>
        </p:nvSpPr>
        <p:spPr>
          <a:xfrm>
            <a:off x="9906238" y="2133124"/>
            <a:ext cx="3592354" cy="695325"/>
          </a:xfrm>
          <a:prstGeom prst="rect">
            <a:avLst/>
          </a:prstGeom>
          <a:noFill/>
          <a:ln/>
        </p:spPr>
        <p:txBody>
          <a:bodyPr wrap="square" lIns="0" tIns="0" rIns="0" bIns="0" rtlCol="0" anchor="t"/>
          <a:lstStyle/>
          <a:p>
            <a:pPr algn="l" indent="0" marL="0">
              <a:lnSpc>
                <a:spcPts val="2700"/>
              </a:lnSpc>
              <a:buNone/>
            </a:pPr>
            <a:r>
              <a:rPr lang="en-US" sz="2150" b="1" dirty="0">
                <a:solidFill>
                  <a:srgbClr val="E2E6E9"/>
                </a:solidFill>
                <a:latin typeface="Montserrat Bold" pitchFamily="34" charset="0"/>
                <a:ea typeface="Montserrat Bold" pitchFamily="34" charset="-122"/>
                <a:cs typeface="Montserrat Bold" pitchFamily="34" charset="-120"/>
              </a:rPr>
              <a:t>Alert Center (Predictive Maintenance)</a:t>
            </a:r>
            <a:endParaRPr lang="en-US" sz="2150" dirty="0"/>
          </a:p>
        </p:txBody>
      </p:sp>
      <p:sp>
        <p:nvSpPr>
          <p:cNvPr id="22" name="Text 20"/>
          <p:cNvSpPr/>
          <p:nvPr/>
        </p:nvSpPr>
        <p:spPr>
          <a:xfrm>
            <a:off x="9906238" y="2975253"/>
            <a:ext cx="3592354" cy="367189"/>
          </a:xfrm>
          <a:prstGeom prst="rect">
            <a:avLst/>
          </a:prstGeom>
          <a:noFill/>
          <a:ln/>
        </p:spPr>
        <p:txBody>
          <a:bodyPr wrap="none" lIns="0" tIns="0" rIns="0" bIns="0" rtlCol="0" anchor="t"/>
          <a:lstStyle/>
          <a:p>
            <a:pPr algn="l" indent="0" marL="0">
              <a:lnSpc>
                <a:spcPts val="2850"/>
              </a:lnSpc>
              <a:buNone/>
            </a:pPr>
            <a:r>
              <a:rPr lang="en-US" sz="1900" dirty="0">
                <a:solidFill>
                  <a:srgbClr val="E2E6E9"/>
                </a:solidFill>
                <a:latin typeface="Source Sans 3" pitchFamily="34" charset="0"/>
                <a:ea typeface="Source Sans 3" pitchFamily="34" charset="-122"/>
                <a:cs typeface="Source Sans 3" pitchFamily="34" charset="-120"/>
              </a:rPr>
              <a:t>A smart system that:</a:t>
            </a:r>
            <a:endParaRPr lang="en-US" sz="1900" dirty="0"/>
          </a:p>
        </p:txBody>
      </p:sp>
      <p:sp>
        <p:nvSpPr>
          <p:cNvPr id="23" name="Text 21"/>
          <p:cNvSpPr/>
          <p:nvPr/>
        </p:nvSpPr>
        <p:spPr>
          <a:xfrm>
            <a:off x="9906238" y="3489246"/>
            <a:ext cx="3592354" cy="734378"/>
          </a:xfrm>
          <a:prstGeom prst="rect">
            <a:avLst/>
          </a:prstGeom>
          <a:noFill/>
          <a:ln/>
        </p:spPr>
        <p:txBody>
          <a:bodyPr wrap="squar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Predicts which machines will need maintenance soon</a:t>
            </a:r>
            <a:endParaRPr lang="en-US" sz="1900" dirty="0"/>
          </a:p>
        </p:txBody>
      </p:sp>
      <p:sp>
        <p:nvSpPr>
          <p:cNvPr id="24" name="Text 22"/>
          <p:cNvSpPr/>
          <p:nvPr/>
        </p:nvSpPr>
        <p:spPr>
          <a:xfrm>
            <a:off x="9906238" y="4309229"/>
            <a:ext cx="3592354" cy="367189"/>
          </a:xfrm>
          <a:prstGeom prst="rect">
            <a:avLst/>
          </a:prstGeom>
          <a:noFill/>
          <a:ln/>
        </p:spPr>
        <p:txBody>
          <a:bodyPr wrap="non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Detects safety risks</a:t>
            </a:r>
            <a:endParaRPr lang="en-US" sz="1900" dirty="0"/>
          </a:p>
        </p:txBody>
      </p:sp>
      <p:sp>
        <p:nvSpPr>
          <p:cNvPr id="25" name="Text 23"/>
          <p:cNvSpPr/>
          <p:nvPr/>
        </p:nvSpPr>
        <p:spPr>
          <a:xfrm>
            <a:off x="9906238" y="4762024"/>
            <a:ext cx="3592354" cy="734378"/>
          </a:xfrm>
          <a:prstGeom prst="rect">
            <a:avLst/>
          </a:prstGeom>
          <a:noFill/>
          <a:ln/>
        </p:spPr>
        <p:txBody>
          <a:bodyPr wrap="square" lIns="0" tIns="0" rIns="0" bIns="0" rtlCol="0" anchor="t"/>
          <a:lstStyle/>
          <a:p>
            <a:pPr algn="l" marL="342900" indent="-342900">
              <a:lnSpc>
                <a:spcPts val="2850"/>
              </a:lnSpc>
              <a:buSzPct val="100000"/>
              <a:buChar char="•"/>
            </a:pPr>
            <a:r>
              <a:rPr lang="en-US" sz="1900" dirty="0">
                <a:solidFill>
                  <a:srgbClr val="E2E6E9"/>
                </a:solidFill>
                <a:latin typeface="Source Sans 3" pitchFamily="34" charset="0"/>
                <a:ea typeface="Source Sans 3" pitchFamily="34" charset="-122"/>
                <a:cs typeface="Source Sans 3" pitchFamily="34" charset="-120"/>
              </a:rPr>
              <a:t>Displays alerts with priority levels</a:t>
            </a:r>
            <a:endParaRPr lang="en-US" sz="1900" dirty="0"/>
          </a:p>
        </p:txBody>
      </p:sp>
      <p:sp>
        <p:nvSpPr>
          <p:cNvPr id="26" name="Text 24"/>
          <p:cNvSpPr/>
          <p:nvPr/>
        </p:nvSpPr>
        <p:spPr>
          <a:xfrm>
            <a:off x="9906238" y="5643205"/>
            <a:ext cx="3592354" cy="734378"/>
          </a:xfrm>
          <a:prstGeom prst="rect">
            <a:avLst/>
          </a:prstGeom>
          <a:noFill/>
          <a:ln/>
        </p:spPr>
        <p:txBody>
          <a:bodyPr wrap="square" lIns="0" tIns="0" rIns="0" bIns="0" rtlCol="0" anchor="t"/>
          <a:lstStyle/>
          <a:p>
            <a:pPr algn="l" indent="0" marL="0">
              <a:lnSpc>
                <a:spcPts val="2850"/>
              </a:lnSpc>
              <a:buNone/>
            </a:pPr>
            <a:r>
              <a:rPr lang="en-US" sz="1900" dirty="0">
                <a:solidFill>
                  <a:srgbClr val="E2E6E9"/>
                </a:solidFill>
                <a:latin typeface="Source Sans 3" pitchFamily="34" charset="0"/>
                <a:ea typeface="Source Sans 3" pitchFamily="34" charset="-122"/>
                <a:cs typeface="Source Sans 3" pitchFamily="34" charset="-120"/>
              </a:rPr>
              <a:t>This reduces unexpected failures and increases safety compliance.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645920"/>
            <a:ext cx="9084469" cy="701278"/>
          </a:xfrm>
          <a:prstGeom prst="rect">
            <a:avLst/>
          </a:prstGeom>
          <a:noFill/>
          <a:ln/>
        </p:spPr>
        <p:txBody>
          <a:bodyPr wrap="none" lIns="0" tIns="0" rIns="0" bIns="0" rtlCol="0" anchor="t"/>
          <a:lstStyle/>
          <a:p>
            <a:pPr algn="l" indent="0" marL="0">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Additional Dashboard Modules</a:t>
            </a:r>
            <a:endParaRPr lang="en-US" sz="4400" dirty="0"/>
          </a:p>
        </p:txBody>
      </p:sp>
      <p:sp>
        <p:nvSpPr>
          <p:cNvPr id="3" name="Shape 1"/>
          <p:cNvSpPr/>
          <p:nvPr/>
        </p:nvSpPr>
        <p:spPr>
          <a:xfrm>
            <a:off x="863798" y="2840831"/>
            <a:ext cx="6327934" cy="3742849"/>
          </a:xfrm>
          <a:prstGeom prst="roundRect">
            <a:avLst>
              <a:gd name="adj" fmla="val 989"/>
            </a:avLst>
          </a:prstGeom>
          <a:solidFill>
            <a:srgbClr val="111213"/>
          </a:solidFill>
          <a:ln w="30480">
            <a:solidFill>
              <a:srgbClr val="494A4B"/>
            </a:solidFill>
            <a:prstDash val="solid"/>
          </a:ln>
        </p:spPr>
      </p:sp>
      <p:sp>
        <p:nvSpPr>
          <p:cNvPr id="4" name="Text 2"/>
          <p:cNvSpPr/>
          <p:nvPr/>
        </p:nvSpPr>
        <p:spPr>
          <a:xfrm>
            <a:off x="1141095" y="3118128"/>
            <a:ext cx="2854762" cy="350639"/>
          </a:xfrm>
          <a:prstGeom prst="rect">
            <a:avLst/>
          </a:prstGeom>
          <a:noFill/>
          <a:ln/>
        </p:spPr>
        <p:txBody>
          <a:bodyPr wrap="none" lIns="0" tIns="0" rIns="0" bIns="0" rtlCol="0" anchor="t"/>
          <a:lstStyle/>
          <a:p>
            <a:pPr algn="l" indent="0" marL="0">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Cost Analysis Panel</a:t>
            </a:r>
            <a:endParaRPr lang="en-US" sz="2200" dirty="0"/>
          </a:p>
        </p:txBody>
      </p:sp>
      <p:sp>
        <p:nvSpPr>
          <p:cNvPr id="5" name="Text 3"/>
          <p:cNvSpPr/>
          <p:nvPr/>
        </p:nvSpPr>
        <p:spPr>
          <a:xfrm>
            <a:off x="1141095" y="3616762"/>
            <a:ext cx="5773341" cy="370165"/>
          </a:xfrm>
          <a:prstGeom prst="rect">
            <a:avLst/>
          </a:prstGeom>
          <a:noFill/>
          <a:ln/>
        </p:spPr>
        <p:txBody>
          <a:bodyPr wrap="non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Tracks financial KPIs such as:</a:t>
            </a:r>
            <a:endParaRPr lang="en-US" sz="1900" dirty="0"/>
          </a:p>
        </p:txBody>
      </p:sp>
      <p:sp>
        <p:nvSpPr>
          <p:cNvPr id="6" name="Text 4"/>
          <p:cNvSpPr/>
          <p:nvPr/>
        </p:nvSpPr>
        <p:spPr>
          <a:xfrm>
            <a:off x="1141095" y="4134922"/>
            <a:ext cx="5773341"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Cost Per Unit Trends</a:t>
            </a:r>
            <a:endParaRPr lang="en-US" sz="1900" dirty="0"/>
          </a:p>
        </p:txBody>
      </p:sp>
      <p:sp>
        <p:nvSpPr>
          <p:cNvPr id="7" name="Text 5"/>
          <p:cNvSpPr/>
          <p:nvPr/>
        </p:nvSpPr>
        <p:spPr>
          <a:xfrm>
            <a:off x="1141095" y="4591407"/>
            <a:ext cx="5773341" cy="740331"/>
          </a:xfrm>
          <a:prstGeom prst="rect">
            <a:avLst/>
          </a:prstGeom>
          <a:noFill/>
          <a:ln/>
        </p:spPr>
        <p:txBody>
          <a:bodyPr wrap="squar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Cost Breakdown (materials, labor, downtime, maintenance)</a:t>
            </a:r>
            <a:endParaRPr lang="en-US" sz="1900" dirty="0"/>
          </a:p>
        </p:txBody>
      </p:sp>
      <p:sp>
        <p:nvSpPr>
          <p:cNvPr id="8" name="Text 6"/>
          <p:cNvSpPr/>
          <p:nvPr/>
        </p:nvSpPr>
        <p:spPr>
          <a:xfrm>
            <a:off x="1141095" y="5479733"/>
            <a:ext cx="5773341" cy="740331"/>
          </a:xfrm>
          <a:prstGeom prst="rect">
            <a:avLst/>
          </a:prstGeom>
          <a:noFill/>
          <a:ln/>
        </p:spPr>
        <p:txBody>
          <a:bodyPr wrap="squar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Helps leaders understand where the money goes and how to reduce costs.</a:t>
            </a:r>
            <a:endParaRPr lang="en-US" sz="1900" dirty="0"/>
          </a:p>
        </p:txBody>
      </p:sp>
      <p:sp>
        <p:nvSpPr>
          <p:cNvPr id="9" name="Shape 7"/>
          <p:cNvSpPr/>
          <p:nvPr/>
        </p:nvSpPr>
        <p:spPr>
          <a:xfrm>
            <a:off x="7438549" y="2840831"/>
            <a:ext cx="6328053" cy="3742849"/>
          </a:xfrm>
          <a:prstGeom prst="roundRect">
            <a:avLst>
              <a:gd name="adj" fmla="val 989"/>
            </a:avLst>
          </a:prstGeom>
          <a:solidFill>
            <a:srgbClr val="111213"/>
          </a:solidFill>
          <a:ln w="30480">
            <a:solidFill>
              <a:srgbClr val="494A4B"/>
            </a:solidFill>
            <a:prstDash val="solid"/>
          </a:ln>
        </p:spPr>
      </p:sp>
      <p:sp>
        <p:nvSpPr>
          <p:cNvPr id="10" name="Text 8"/>
          <p:cNvSpPr/>
          <p:nvPr/>
        </p:nvSpPr>
        <p:spPr>
          <a:xfrm>
            <a:off x="7715845" y="3118128"/>
            <a:ext cx="4599027" cy="350639"/>
          </a:xfrm>
          <a:prstGeom prst="rect">
            <a:avLst/>
          </a:prstGeom>
          <a:noFill/>
          <a:ln/>
        </p:spPr>
        <p:txBody>
          <a:bodyPr wrap="none" lIns="0" tIns="0" rIns="0" bIns="0" rtlCol="0" anchor="t"/>
          <a:lstStyle/>
          <a:p>
            <a:pPr algn="l" indent="0" marL="0">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Quality Control &amp; Yield Analysis</a:t>
            </a:r>
            <a:endParaRPr lang="en-US" sz="2200" dirty="0"/>
          </a:p>
        </p:txBody>
      </p:sp>
      <p:sp>
        <p:nvSpPr>
          <p:cNvPr id="11" name="Text 9"/>
          <p:cNvSpPr/>
          <p:nvPr/>
        </p:nvSpPr>
        <p:spPr>
          <a:xfrm>
            <a:off x="7715845" y="3616762"/>
            <a:ext cx="5773460" cy="370165"/>
          </a:xfrm>
          <a:prstGeom prst="rect">
            <a:avLst/>
          </a:prstGeom>
          <a:noFill/>
          <a:ln/>
        </p:spPr>
        <p:txBody>
          <a:bodyPr wrap="non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Analyzes production quality:</a:t>
            </a:r>
            <a:endParaRPr lang="en-US" sz="1900" dirty="0"/>
          </a:p>
        </p:txBody>
      </p:sp>
      <p:sp>
        <p:nvSpPr>
          <p:cNvPr id="12" name="Text 10"/>
          <p:cNvSpPr/>
          <p:nvPr/>
        </p:nvSpPr>
        <p:spPr>
          <a:xfrm>
            <a:off x="7715845" y="4134922"/>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Yield trends</a:t>
            </a:r>
            <a:endParaRPr lang="en-US" sz="1900" dirty="0"/>
          </a:p>
        </p:txBody>
      </p:sp>
      <p:sp>
        <p:nvSpPr>
          <p:cNvPr id="13" name="Text 11"/>
          <p:cNvSpPr/>
          <p:nvPr/>
        </p:nvSpPr>
        <p:spPr>
          <a:xfrm>
            <a:off x="7715845" y="4591407"/>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Top defects by operator or machine (Pareto)</a:t>
            </a:r>
            <a:endParaRPr lang="en-US" sz="1900" dirty="0"/>
          </a:p>
        </p:txBody>
      </p:sp>
      <p:sp>
        <p:nvSpPr>
          <p:cNvPr id="14" name="Text 12"/>
          <p:cNvSpPr/>
          <p:nvPr/>
        </p:nvSpPr>
        <p:spPr>
          <a:xfrm>
            <a:off x="7715845" y="5047893"/>
            <a:ext cx="577346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Yield performance by department</a:t>
            </a:r>
            <a:endParaRPr lang="en-US" sz="1900" dirty="0"/>
          </a:p>
        </p:txBody>
      </p:sp>
      <p:sp>
        <p:nvSpPr>
          <p:cNvPr id="15" name="Text 13"/>
          <p:cNvSpPr/>
          <p:nvPr/>
        </p:nvSpPr>
        <p:spPr>
          <a:xfrm>
            <a:off x="7715845" y="5566053"/>
            <a:ext cx="5773460" cy="740331"/>
          </a:xfrm>
          <a:prstGeom prst="rect">
            <a:avLst/>
          </a:prstGeom>
          <a:noFill/>
          <a:ln/>
        </p:spPr>
        <p:txBody>
          <a:bodyPr wrap="square" lIns="0" tIns="0" rIns="0" bIns="0" rtlCol="0" anchor="t"/>
          <a:lstStyle/>
          <a:p>
            <a:pPr algn="l" indent="0" marL="0">
              <a:lnSpc>
                <a:spcPts val="2900"/>
              </a:lnSpc>
              <a:buNone/>
            </a:pPr>
            <a:r>
              <a:rPr lang="en-US" sz="1900" dirty="0">
                <a:solidFill>
                  <a:srgbClr val="E2E6E9"/>
                </a:solidFill>
                <a:latin typeface="Source Sans 3" pitchFamily="34" charset="0"/>
                <a:ea typeface="Source Sans 3" pitchFamily="34" charset="-122"/>
                <a:cs typeface="Source Sans 3" pitchFamily="34" charset="-120"/>
              </a:rPr>
              <a:t>This helps identify problem areas and improve product consistency.</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8907" y="694373"/>
            <a:ext cx="11776472" cy="632222"/>
          </a:xfrm>
          <a:prstGeom prst="rect">
            <a:avLst/>
          </a:prstGeom>
          <a:noFill/>
          <a:ln/>
        </p:spPr>
        <p:txBody>
          <a:bodyPr wrap="none" lIns="0" tIns="0" rIns="0" bIns="0" rtlCol="0" anchor="t"/>
          <a:lstStyle/>
          <a:p>
            <a:pPr algn="l" indent="0" marL="0">
              <a:lnSpc>
                <a:spcPts val="4950"/>
              </a:lnSpc>
              <a:buNone/>
            </a:pPr>
            <a:r>
              <a:rPr lang="en-US" sz="3950" b="1" dirty="0">
                <a:solidFill>
                  <a:srgbClr val="000000"/>
                </a:solidFill>
                <a:latin typeface="Montserrat Bold" pitchFamily="34" charset="0"/>
                <a:ea typeface="Montserrat Bold" pitchFamily="34" charset="-122"/>
                <a:cs typeface="Montserrat Bold" pitchFamily="34" charset="-120"/>
              </a:rPr>
              <a:t>📌</a:t>
            </a:r>
            <a:pPr algn="l" indent="0" marL="0">
              <a:lnSpc>
                <a:spcPts val="4950"/>
              </a:lnSpc>
              <a:buNone/>
            </a:pPr>
            <a:r>
              <a:rPr lang="en-US" sz="3950" b="1" dirty="0">
                <a:solidFill>
                  <a:srgbClr val="FFFFFF"/>
                </a:solidFill>
                <a:latin typeface="Montserrat Bold" pitchFamily="34" charset="0"/>
                <a:ea typeface="Montserrat Bold" pitchFamily="34" charset="-122"/>
                <a:cs typeface="Montserrat Bold" pitchFamily="34" charset="-120"/>
              </a:rPr>
              <a:t> Best Points / Key Strengths of the Project</a:t>
            </a:r>
            <a:endParaRPr lang="en-US" sz="3950" dirty="0"/>
          </a:p>
        </p:txBody>
      </p:sp>
      <p:sp>
        <p:nvSpPr>
          <p:cNvPr id="3" name="Shape 1"/>
          <p:cNvSpPr/>
          <p:nvPr/>
        </p:nvSpPr>
        <p:spPr>
          <a:xfrm>
            <a:off x="778907" y="1771650"/>
            <a:ext cx="6424970" cy="1878211"/>
          </a:xfrm>
          <a:prstGeom prst="roundRect">
            <a:avLst>
              <a:gd name="adj" fmla="val 1777"/>
            </a:avLst>
          </a:prstGeom>
          <a:solidFill>
            <a:srgbClr val="303132"/>
          </a:solidFill>
          <a:ln/>
        </p:spPr>
      </p:sp>
      <p:sp>
        <p:nvSpPr>
          <p:cNvPr id="4" name="Text 2"/>
          <p:cNvSpPr/>
          <p:nvPr/>
        </p:nvSpPr>
        <p:spPr>
          <a:xfrm>
            <a:off x="1001435" y="1994178"/>
            <a:ext cx="5979914" cy="632222"/>
          </a:xfrm>
          <a:prstGeom prst="rect">
            <a:avLst/>
          </a:prstGeom>
          <a:noFill/>
          <a:ln/>
        </p:spPr>
        <p:txBody>
          <a:bodyPr wrap="square" lIns="0" tIns="0" rIns="0" bIns="0" rtlCol="0" anchor="t"/>
          <a:lstStyle/>
          <a:p>
            <a:pPr algn="l" indent="0" marL="0">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Real-time monitoring across the entire factory</a:t>
            </a:r>
            <a:endParaRPr lang="en-US" sz="1950" dirty="0"/>
          </a:p>
        </p:txBody>
      </p:sp>
      <p:sp>
        <p:nvSpPr>
          <p:cNvPr id="5" name="Text 3"/>
          <p:cNvSpPr/>
          <p:nvPr/>
        </p:nvSpPr>
        <p:spPr>
          <a:xfrm>
            <a:off x="1001435" y="2759869"/>
            <a:ext cx="5979914" cy="667464"/>
          </a:xfrm>
          <a:prstGeom prst="rect">
            <a:avLst/>
          </a:prstGeom>
          <a:noFill/>
          <a:ln/>
        </p:spPr>
        <p:txBody>
          <a:bodyPr wrap="square" lIns="0" tIns="0" rIns="0" bIns="0" rtlCol="0" anchor="t"/>
          <a:lstStyle/>
          <a:p>
            <a:pPr algn="l" indent="0" marL="0">
              <a:lnSpc>
                <a:spcPts val="2600"/>
              </a:lnSpc>
              <a:buNone/>
            </a:pPr>
            <a:r>
              <a:rPr lang="en-US" sz="1750" dirty="0">
                <a:solidFill>
                  <a:srgbClr val="E2E6E9"/>
                </a:solidFill>
                <a:latin typeface="Source Sans 3" pitchFamily="34" charset="0"/>
                <a:ea typeface="Source Sans 3" pitchFamily="34" charset="-122"/>
                <a:cs typeface="Source Sans 3" pitchFamily="34" charset="-120"/>
              </a:rPr>
              <a:t>Not just maintenance, but production, quality, operators, and cost.</a:t>
            </a:r>
            <a:endParaRPr lang="en-US" sz="1750" dirty="0"/>
          </a:p>
        </p:txBody>
      </p:sp>
      <p:sp>
        <p:nvSpPr>
          <p:cNvPr id="6" name="Shape 4"/>
          <p:cNvSpPr/>
          <p:nvPr/>
        </p:nvSpPr>
        <p:spPr>
          <a:xfrm>
            <a:off x="7426404" y="1771650"/>
            <a:ext cx="6425089" cy="1878211"/>
          </a:xfrm>
          <a:prstGeom prst="roundRect">
            <a:avLst>
              <a:gd name="adj" fmla="val 1777"/>
            </a:avLst>
          </a:prstGeom>
          <a:solidFill>
            <a:srgbClr val="303132"/>
          </a:solidFill>
          <a:ln/>
        </p:spPr>
      </p:sp>
      <p:sp>
        <p:nvSpPr>
          <p:cNvPr id="7" name="Text 5"/>
          <p:cNvSpPr/>
          <p:nvPr/>
        </p:nvSpPr>
        <p:spPr>
          <a:xfrm>
            <a:off x="7648932" y="1994178"/>
            <a:ext cx="5980033" cy="632222"/>
          </a:xfrm>
          <a:prstGeom prst="rect">
            <a:avLst/>
          </a:prstGeom>
          <a:noFill/>
          <a:ln/>
        </p:spPr>
        <p:txBody>
          <a:bodyPr wrap="square" lIns="0" tIns="0" rIns="0" bIns="0" rtlCol="0" anchor="t"/>
          <a:lstStyle/>
          <a:p>
            <a:pPr algn="l" indent="0" marL="0">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Predictive maintenance using smart analytics</a:t>
            </a:r>
            <a:endParaRPr lang="en-US" sz="1950" dirty="0"/>
          </a:p>
        </p:txBody>
      </p:sp>
      <p:sp>
        <p:nvSpPr>
          <p:cNvPr id="8" name="Text 6"/>
          <p:cNvSpPr/>
          <p:nvPr/>
        </p:nvSpPr>
        <p:spPr>
          <a:xfrm>
            <a:off x="7648932" y="2759869"/>
            <a:ext cx="5980033" cy="333732"/>
          </a:xfrm>
          <a:prstGeom prst="rect">
            <a:avLst/>
          </a:prstGeom>
          <a:noFill/>
          <a:ln/>
        </p:spPr>
        <p:txBody>
          <a:bodyPr wrap="none" lIns="0" tIns="0" rIns="0" bIns="0" rtlCol="0" anchor="t"/>
          <a:lstStyle/>
          <a:p>
            <a:pPr algn="l" indent="0" marL="0">
              <a:lnSpc>
                <a:spcPts val="2600"/>
              </a:lnSpc>
              <a:buNone/>
            </a:pPr>
            <a:r>
              <a:rPr lang="en-US" sz="1750" dirty="0">
                <a:solidFill>
                  <a:srgbClr val="E2E6E9"/>
                </a:solidFill>
                <a:latin typeface="Source Sans 3" pitchFamily="34" charset="0"/>
                <a:ea typeface="Source Sans 3" pitchFamily="34" charset="-122"/>
                <a:cs typeface="Source Sans 3" pitchFamily="34" charset="-120"/>
              </a:rPr>
              <a:t>Prevents machine failures instead of reacting to them.</a:t>
            </a:r>
            <a:endParaRPr lang="en-US" sz="1750" dirty="0"/>
          </a:p>
        </p:txBody>
      </p:sp>
      <p:sp>
        <p:nvSpPr>
          <p:cNvPr id="9" name="Shape 7"/>
          <p:cNvSpPr/>
          <p:nvPr/>
        </p:nvSpPr>
        <p:spPr>
          <a:xfrm>
            <a:off x="778907" y="3872389"/>
            <a:ext cx="6424970" cy="1878211"/>
          </a:xfrm>
          <a:prstGeom prst="roundRect">
            <a:avLst>
              <a:gd name="adj" fmla="val 1777"/>
            </a:avLst>
          </a:prstGeom>
          <a:solidFill>
            <a:srgbClr val="303132"/>
          </a:solidFill>
          <a:ln/>
        </p:spPr>
      </p:sp>
      <p:sp>
        <p:nvSpPr>
          <p:cNvPr id="10" name="Text 8"/>
          <p:cNvSpPr/>
          <p:nvPr/>
        </p:nvSpPr>
        <p:spPr>
          <a:xfrm>
            <a:off x="1001435" y="4094917"/>
            <a:ext cx="3102054" cy="316111"/>
          </a:xfrm>
          <a:prstGeom prst="rect">
            <a:avLst/>
          </a:prstGeom>
          <a:noFill/>
          <a:ln/>
        </p:spPr>
        <p:txBody>
          <a:bodyPr wrap="none" lIns="0" tIns="0" rIns="0" bIns="0" rtlCol="0" anchor="t"/>
          <a:lstStyle/>
          <a:p>
            <a:pPr algn="l" indent="0" marL="0">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360° view of operations</a:t>
            </a:r>
            <a:endParaRPr lang="en-US" sz="1950" dirty="0"/>
          </a:p>
        </p:txBody>
      </p:sp>
      <p:sp>
        <p:nvSpPr>
          <p:cNvPr id="11" name="Text 9"/>
          <p:cNvSpPr/>
          <p:nvPr/>
        </p:nvSpPr>
        <p:spPr>
          <a:xfrm>
            <a:off x="1001435" y="4544497"/>
            <a:ext cx="5979914" cy="667464"/>
          </a:xfrm>
          <a:prstGeom prst="rect">
            <a:avLst/>
          </a:prstGeom>
          <a:noFill/>
          <a:ln/>
        </p:spPr>
        <p:txBody>
          <a:bodyPr wrap="square" lIns="0" tIns="0" rIns="0" bIns="0" rtlCol="0" anchor="t"/>
          <a:lstStyle/>
          <a:p>
            <a:pPr algn="l" indent="0" marL="0">
              <a:lnSpc>
                <a:spcPts val="2600"/>
              </a:lnSpc>
              <a:buNone/>
            </a:pPr>
            <a:r>
              <a:rPr lang="en-US" sz="1750" dirty="0">
                <a:solidFill>
                  <a:srgbClr val="E2E6E9"/>
                </a:solidFill>
                <a:latin typeface="Source Sans 3" pitchFamily="34" charset="0"/>
                <a:ea typeface="Source Sans 3" pitchFamily="34" charset="-122"/>
                <a:cs typeface="Source Sans 3" pitchFamily="34" charset="-120"/>
              </a:rPr>
              <a:t>One dashboard replaces many disconnected reports and Excel sheets.</a:t>
            </a:r>
            <a:endParaRPr lang="en-US" sz="1750" dirty="0"/>
          </a:p>
        </p:txBody>
      </p:sp>
      <p:sp>
        <p:nvSpPr>
          <p:cNvPr id="12" name="Shape 10"/>
          <p:cNvSpPr/>
          <p:nvPr/>
        </p:nvSpPr>
        <p:spPr>
          <a:xfrm>
            <a:off x="7426404" y="3872389"/>
            <a:ext cx="6425089" cy="1878211"/>
          </a:xfrm>
          <a:prstGeom prst="roundRect">
            <a:avLst>
              <a:gd name="adj" fmla="val 1777"/>
            </a:avLst>
          </a:prstGeom>
          <a:solidFill>
            <a:srgbClr val="303132"/>
          </a:solidFill>
          <a:ln/>
        </p:spPr>
      </p:sp>
      <p:sp>
        <p:nvSpPr>
          <p:cNvPr id="13" name="Text 11"/>
          <p:cNvSpPr/>
          <p:nvPr/>
        </p:nvSpPr>
        <p:spPr>
          <a:xfrm>
            <a:off x="7648932" y="4094917"/>
            <a:ext cx="5980033" cy="632222"/>
          </a:xfrm>
          <a:prstGeom prst="rect">
            <a:avLst/>
          </a:prstGeom>
          <a:noFill/>
          <a:ln/>
        </p:spPr>
        <p:txBody>
          <a:bodyPr wrap="square" lIns="0" tIns="0" rIns="0" bIns="0" rtlCol="0" anchor="t"/>
          <a:lstStyle/>
          <a:p>
            <a:pPr algn="l" indent="0" marL="0">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Improves communication between departments</a:t>
            </a:r>
            <a:endParaRPr lang="en-US" sz="1950" dirty="0"/>
          </a:p>
        </p:txBody>
      </p:sp>
      <p:sp>
        <p:nvSpPr>
          <p:cNvPr id="14" name="Text 12"/>
          <p:cNvSpPr/>
          <p:nvPr/>
        </p:nvSpPr>
        <p:spPr>
          <a:xfrm>
            <a:off x="7648932" y="4860608"/>
            <a:ext cx="5980033" cy="667464"/>
          </a:xfrm>
          <a:prstGeom prst="rect">
            <a:avLst/>
          </a:prstGeom>
          <a:noFill/>
          <a:ln/>
        </p:spPr>
        <p:txBody>
          <a:bodyPr wrap="square" lIns="0" tIns="0" rIns="0" bIns="0" rtlCol="0" anchor="t"/>
          <a:lstStyle/>
          <a:p>
            <a:pPr algn="l" indent="0" marL="0">
              <a:lnSpc>
                <a:spcPts val="2600"/>
              </a:lnSpc>
              <a:buNone/>
            </a:pPr>
            <a:r>
              <a:rPr lang="en-US" sz="1750" dirty="0">
                <a:solidFill>
                  <a:srgbClr val="E2E6E9"/>
                </a:solidFill>
                <a:latin typeface="Source Sans 3" pitchFamily="34" charset="0"/>
                <a:ea typeface="Source Sans 3" pitchFamily="34" charset="-122"/>
                <a:cs typeface="Source Sans 3" pitchFamily="34" charset="-120"/>
              </a:rPr>
              <a:t>Everyone sees the same reliable data: maintenance, production, quality, and management.</a:t>
            </a:r>
            <a:endParaRPr lang="en-US" sz="1750" dirty="0"/>
          </a:p>
        </p:txBody>
      </p:sp>
      <p:sp>
        <p:nvSpPr>
          <p:cNvPr id="15" name="Shape 13"/>
          <p:cNvSpPr/>
          <p:nvPr/>
        </p:nvSpPr>
        <p:spPr>
          <a:xfrm>
            <a:off x="778907" y="5973128"/>
            <a:ext cx="6424970" cy="1562100"/>
          </a:xfrm>
          <a:prstGeom prst="roundRect">
            <a:avLst>
              <a:gd name="adj" fmla="val 2137"/>
            </a:avLst>
          </a:prstGeom>
          <a:solidFill>
            <a:srgbClr val="303132"/>
          </a:solidFill>
          <a:ln/>
        </p:spPr>
      </p:sp>
      <p:sp>
        <p:nvSpPr>
          <p:cNvPr id="16" name="Text 14"/>
          <p:cNvSpPr/>
          <p:nvPr/>
        </p:nvSpPr>
        <p:spPr>
          <a:xfrm>
            <a:off x="1001435" y="6195655"/>
            <a:ext cx="5726549" cy="316111"/>
          </a:xfrm>
          <a:prstGeom prst="rect">
            <a:avLst/>
          </a:prstGeom>
          <a:noFill/>
          <a:ln/>
        </p:spPr>
        <p:txBody>
          <a:bodyPr wrap="none" lIns="0" tIns="0" rIns="0" bIns="0" rtlCol="0" anchor="t"/>
          <a:lstStyle/>
          <a:p>
            <a:pPr algn="l" indent="0" marL="0">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Boosts productivity and reduces downtime</a:t>
            </a:r>
            <a:endParaRPr lang="en-US" sz="1950" dirty="0"/>
          </a:p>
        </p:txBody>
      </p:sp>
      <p:sp>
        <p:nvSpPr>
          <p:cNvPr id="17" name="Text 15"/>
          <p:cNvSpPr/>
          <p:nvPr/>
        </p:nvSpPr>
        <p:spPr>
          <a:xfrm>
            <a:off x="1001435" y="6645235"/>
            <a:ext cx="5979914" cy="333732"/>
          </a:xfrm>
          <a:prstGeom prst="rect">
            <a:avLst/>
          </a:prstGeom>
          <a:noFill/>
          <a:ln/>
        </p:spPr>
        <p:txBody>
          <a:bodyPr wrap="none" lIns="0" tIns="0" rIns="0" bIns="0" rtlCol="0" anchor="t"/>
          <a:lstStyle/>
          <a:p>
            <a:pPr algn="l" indent="0" marL="0">
              <a:lnSpc>
                <a:spcPts val="2600"/>
              </a:lnSpc>
              <a:buNone/>
            </a:pPr>
            <a:r>
              <a:rPr lang="en-US" sz="1750" dirty="0">
                <a:solidFill>
                  <a:srgbClr val="E2E6E9"/>
                </a:solidFill>
                <a:latin typeface="Source Sans 3" pitchFamily="34" charset="0"/>
                <a:ea typeface="Source Sans 3" pitchFamily="34" charset="-122"/>
                <a:cs typeface="Source Sans 3" pitchFamily="34" charset="-120"/>
              </a:rPr>
              <a:t>Problems can be solved within minutes instead of hours.</a:t>
            </a:r>
            <a:endParaRPr lang="en-US" sz="1750" dirty="0"/>
          </a:p>
        </p:txBody>
      </p:sp>
      <p:sp>
        <p:nvSpPr>
          <p:cNvPr id="18" name="Shape 16"/>
          <p:cNvSpPr/>
          <p:nvPr/>
        </p:nvSpPr>
        <p:spPr>
          <a:xfrm>
            <a:off x="7426404" y="5973128"/>
            <a:ext cx="6425089" cy="1562100"/>
          </a:xfrm>
          <a:prstGeom prst="roundRect">
            <a:avLst>
              <a:gd name="adj" fmla="val 2137"/>
            </a:avLst>
          </a:prstGeom>
          <a:solidFill>
            <a:srgbClr val="303132"/>
          </a:solidFill>
          <a:ln/>
        </p:spPr>
      </p:sp>
      <p:sp>
        <p:nvSpPr>
          <p:cNvPr id="19" name="Text 17"/>
          <p:cNvSpPr/>
          <p:nvPr/>
        </p:nvSpPr>
        <p:spPr>
          <a:xfrm>
            <a:off x="7648932" y="6195655"/>
            <a:ext cx="3211711" cy="316111"/>
          </a:xfrm>
          <a:prstGeom prst="rect">
            <a:avLst/>
          </a:prstGeom>
          <a:noFill/>
          <a:ln/>
        </p:spPr>
        <p:txBody>
          <a:bodyPr wrap="none" lIns="0" tIns="0" rIns="0" bIns="0" rtlCol="0" anchor="t"/>
          <a:lstStyle/>
          <a:p>
            <a:pPr algn="l" indent="0" marL="0">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Customizable &amp; scalable</a:t>
            </a:r>
            <a:endParaRPr lang="en-US" sz="1950" dirty="0"/>
          </a:p>
        </p:txBody>
      </p:sp>
      <p:sp>
        <p:nvSpPr>
          <p:cNvPr id="20" name="Text 18"/>
          <p:cNvSpPr/>
          <p:nvPr/>
        </p:nvSpPr>
        <p:spPr>
          <a:xfrm>
            <a:off x="7648932" y="6645235"/>
            <a:ext cx="5980033" cy="667464"/>
          </a:xfrm>
          <a:prstGeom prst="rect">
            <a:avLst/>
          </a:prstGeom>
          <a:noFill/>
          <a:ln/>
        </p:spPr>
        <p:txBody>
          <a:bodyPr wrap="square" lIns="0" tIns="0" rIns="0" bIns="0" rtlCol="0" anchor="t"/>
          <a:lstStyle/>
          <a:p>
            <a:pPr algn="l" indent="0" marL="0">
              <a:lnSpc>
                <a:spcPts val="2600"/>
              </a:lnSpc>
              <a:buNone/>
            </a:pPr>
            <a:r>
              <a:rPr lang="en-US" sz="1750" dirty="0">
                <a:solidFill>
                  <a:srgbClr val="E2E6E9"/>
                </a:solidFill>
                <a:latin typeface="Source Sans 3" pitchFamily="34" charset="0"/>
                <a:ea typeface="Source Sans 3" pitchFamily="34" charset="-122"/>
                <a:cs typeface="Source Sans 3" pitchFamily="34" charset="-120"/>
              </a:rPr>
              <a:t>You can add more machines, departments, or new modules easily.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82930" y="458033"/>
            <a:ext cx="8916114" cy="480893"/>
          </a:xfrm>
          <a:prstGeom prst="rect">
            <a:avLst/>
          </a:prstGeom>
          <a:noFill/>
          <a:ln/>
        </p:spPr>
        <p:txBody>
          <a:bodyPr wrap="none" lIns="0" tIns="0" rIns="0" bIns="0" rtlCol="0" anchor="t"/>
          <a:lstStyle/>
          <a:p>
            <a:pPr algn="l" indent="0" marL="0">
              <a:lnSpc>
                <a:spcPts val="3700"/>
              </a:lnSpc>
              <a:buNone/>
            </a:pPr>
            <a:r>
              <a:rPr lang="en-US" sz="2950" b="1" dirty="0">
                <a:solidFill>
                  <a:srgbClr val="000000"/>
                </a:solidFill>
                <a:latin typeface="Montserrat Bold" pitchFamily="34" charset="0"/>
                <a:ea typeface="Montserrat Bold" pitchFamily="34" charset="-122"/>
                <a:cs typeface="Montserrat Bold" pitchFamily="34" charset="-120"/>
              </a:rPr>
              <a:t>📌</a:t>
            </a:r>
            <a:pPr algn="l" indent="0" marL="0">
              <a:lnSpc>
                <a:spcPts val="3700"/>
              </a:lnSpc>
              <a:buNone/>
            </a:pPr>
            <a:r>
              <a:rPr lang="en-US" sz="2950" b="1" dirty="0">
                <a:solidFill>
                  <a:srgbClr val="FFFFFF"/>
                </a:solidFill>
                <a:latin typeface="Montserrat Bold" pitchFamily="34" charset="0"/>
                <a:ea typeface="Montserrat Bold" pitchFamily="34" charset="-122"/>
                <a:cs typeface="Montserrat Bold" pitchFamily="34" charset="-120"/>
              </a:rPr>
              <a:t> Recommendations to Improve the Project</a:t>
            </a:r>
            <a:endParaRPr lang="en-US" sz="2950" dirty="0"/>
          </a:p>
        </p:txBody>
      </p:sp>
      <p:sp>
        <p:nvSpPr>
          <p:cNvPr id="3" name="Shape 1"/>
          <p:cNvSpPr/>
          <p:nvPr/>
        </p:nvSpPr>
        <p:spPr>
          <a:xfrm>
            <a:off x="582930" y="1272064"/>
            <a:ext cx="374690" cy="374690"/>
          </a:xfrm>
          <a:prstGeom prst="roundRect">
            <a:avLst>
              <a:gd name="adj" fmla="val 6669"/>
            </a:avLst>
          </a:prstGeom>
          <a:solidFill>
            <a:srgbClr val="303132"/>
          </a:solidFill>
          <a:ln/>
        </p:spPr>
      </p:sp>
      <p:sp>
        <p:nvSpPr>
          <p:cNvPr id="4" name="Text 2"/>
          <p:cNvSpPr/>
          <p:nvPr/>
        </p:nvSpPr>
        <p:spPr>
          <a:xfrm>
            <a:off x="656689" y="1317427"/>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1</a:t>
            </a:r>
            <a:endParaRPr lang="en-US" sz="1750" dirty="0"/>
          </a:p>
        </p:txBody>
      </p:sp>
      <p:sp>
        <p:nvSpPr>
          <p:cNvPr id="5" name="Text 3"/>
          <p:cNvSpPr/>
          <p:nvPr/>
        </p:nvSpPr>
        <p:spPr>
          <a:xfrm>
            <a:off x="1124188" y="1329214"/>
            <a:ext cx="3309938"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AI-driven root cause analysis</a:t>
            </a:r>
            <a:endParaRPr lang="en-US" sz="1450" dirty="0"/>
          </a:p>
        </p:txBody>
      </p:sp>
      <p:sp>
        <p:nvSpPr>
          <p:cNvPr id="6" name="Text 4"/>
          <p:cNvSpPr/>
          <p:nvPr/>
        </p:nvSpPr>
        <p:spPr>
          <a:xfrm>
            <a:off x="1124188" y="1665684"/>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Automatically analyze patterns when a machine frequently fails and suggest the most likely cause.</a:t>
            </a:r>
            <a:endParaRPr lang="en-US" sz="1300" dirty="0"/>
          </a:p>
        </p:txBody>
      </p:sp>
      <p:sp>
        <p:nvSpPr>
          <p:cNvPr id="7" name="Shape 5"/>
          <p:cNvSpPr/>
          <p:nvPr/>
        </p:nvSpPr>
        <p:spPr>
          <a:xfrm>
            <a:off x="582930" y="2248614"/>
            <a:ext cx="374690" cy="374690"/>
          </a:xfrm>
          <a:prstGeom prst="roundRect">
            <a:avLst>
              <a:gd name="adj" fmla="val 6669"/>
            </a:avLst>
          </a:prstGeom>
          <a:solidFill>
            <a:srgbClr val="303132"/>
          </a:solidFill>
          <a:ln/>
        </p:spPr>
      </p:sp>
      <p:sp>
        <p:nvSpPr>
          <p:cNvPr id="8" name="Text 6"/>
          <p:cNvSpPr/>
          <p:nvPr/>
        </p:nvSpPr>
        <p:spPr>
          <a:xfrm>
            <a:off x="656689" y="2293977"/>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2</a:t>
            </a:r>
            <a:endParaRPr lang="en-US" sz="1750" dirty="0"/>
          </a:p>
        </p:txBody>
      </p:sp>
      <p:sp>
        <p:nvSpPr>
          <p:cNvPr id="9" name="Text 7"/>
          <p:cNvSpPr/>
          <p:nvPr/>
        </p:nvSpPr>
        <p:spPr>
          <a:xfrm>
            <a:off x="1124188" y="2305764"/>
            <a:ext cx="3098483"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digital work orders system</a:t>
            </a:r>
            <a:endParaRPr lang="en-US" sz="1450" dirty="0"/>
          </a:p>
        </p:txBody>
      </p:sp>
      <p:sp>
        <p:nvSpPr>
          <p:cNvPr id="10" name="Text 8"/>
          <p:cNvSpPr/>
          <p:nvPr/>
        </p:nvSpPr>
        <p:spPr>
          <a:xfrm>
            <a:off x="1124188" y="2642235"/>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Technicians can receive tasks directly from the dashboard.</a:t>
            </a:r>
            <a:endParaRPr lang="en-US" sz="1300" dirty="0"/>
          </a:p>
        </p:txBody>
      </p:sp>
      <p:sp>
        <p:nvSpPr>
          <p:cNvPr id="11" name="Shape 9"/>
          <p:cNvSpPr/>
          <p:nvPr/>
        </p:nvSpPr>
        <p:spPr>
          <a:xfrm>
            <a:off x="582930" y="3225165"/>
            <a:ext cx="374690" cy="374690"/>
          </a:xfrm>
          <a:prstGeom prst="roundRect">
            <a:avLst>
              <a:gd name="adj" fmla="val 6669"/>
            </a:avLst>
          </a:prstGeom>
          <a:solidFill>
            <a:srgbClr val="303132"/>
          </a:solidFill>
          <a:ln/>
        </p:spPr>
      </p:sp>
      <p:sp>
        <p:nvSpPr>
          <p:cNvPr id="12" name="Text 10"/>
          <p:cNvSpPr/>
          <p:nvPr/>
        </p:nvSpPr>
        <p:spPr>
          <a:xfrm>
            <a:off x="656689" y="3270528"/>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3</a:t>
            </a:r>
            <a:endParaRPr lang="en-US" sz="1750" dirty="0"/>
          </a:p>
        </p:txBody>
      </p:sp>
      <p:sp>
        <p:nvSpPr>
          <p:cNvPr id="13" name="Text 11"/>
          <p:cNvSpPr/>
          <p:nvPr/>
        </p:nvSpPr>
        <p:spPr>
          <a:xfrm>
            <a:off x="1124188" y="3282315"/>
            <a:ext cx="2448401"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mobile notifications</a:t>
            </a:r>
            <a:endParaRPr lang="en-US" sz="1450" dirty="0"/>
          </a:p>
        </p:txBody>
      </p:sp>
      <p:sp>
        <p:nvSpPr>
          <p:cNvPr id="14" name="Text 12"/>
          <p:cNvSpPr/>
          <p:nvPr/>
        </p:nvSpPr>
        <p:spPr>
          <a:xfrm>
            <a:off x="1124188" y="3618786"/>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Alerts for downtime, quality issues, or machine safety can go directly to a manager's phone.</a:t>
            </a:r>
            <a:endParaRPr lang="en-US" sz="1300" dirty="0"/>
          </a:p>
        </p:txBody>
      </p:sp>
      <p:sp>
        <p:nvSpPr>
          <p:cNvPr id="15" name="Shape 13"/>
          <p:cNvSpPr/>
          <p:nvPr/>
        </p:nvSpPr>
        <p:spPr>
          <a:xfrm>
            <a:off x="582930" y="4201716"/>
            <a:ext cx="374690" cy="374690"/>
          </a:xfrm>
          <a:prstGeom prst="roundRect">
            <a:avLst>
              <a:gd name="adj" fmla="val 6669"/>
            </a:avLst>
          </a:prstGeom>
          <a:solidFill>
            <a:srgbClr val="303132"/>
          </a:solidFill>
          <a:ln/>
        </p:spPr>
      </p:sp>
      <p:sp>
        <p:nvSpPr>
          <p:cNvPr id="16" name="Text 14"/>
          <p:cNvSpPr/>
          <p:nvPr/>
        </p:nvSpPr>
        <p:spPr>
          <a:xfrm>
            <a:off x="656689" y="4247078"/>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4</a:t>
            </a:r>
            <a:endParaRPr lang="en-US" sz="1750" dirty="0"/>
          </a:p>
        </p:txBody>
      </p:sp>
      <p:sp>
        <p:nvSpPr>
          <p:cNvPr id="17" name="Text 15"/>
          <p:cNvSpPr/>
          <p:nvPr/>
        </p:nvSpPr>
        <p:spPr>
          <a:xfrm>
            <a:off x="1124188" y="4258866"/>
            <a:ext cx="3868222"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spare part inventory management</a:t>
            </a:r>
            <a:endParaRPr lang="en-US" sz="1450" dirty="0"/>
          </a:p>
        </p:txBody>
      </p:sp>
      <p:sp>
        <p:nvSpPr>
          <p:cNvPr id="18" name="Text 16"/>
          <p:cNvSpPr/>
          <p:nvPr/>
        </p:nvSpPr>
        <p:spPr>
          <a:xfrm>
            <a:off x="1124188" y="4595336"/>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Link predicted maintenance to spare parts availability.</a:t>
            </a:r>
            <a:endParaRPr lang="en-US" sz="1300" dirty="0"/>
          </a:p>
        </p:txBody>
      </p:sp>
      <p:sp>
        <p:nvSpPr>
          <p:cNvPr id="19" name="Shape 17"/>
          <p:cNvSpPr/>
          <p:nvPr/>
        </p:nvSpPr>
        <p:spPr>
          <a:xfrm>
            <a:off x="582930" y="5178266"/>
            <a:ext cx="374690" cy="374690"/>
          </a:xfrm>
          <a:prstGeom prst="roundRect">
            <a:avLst>
              <a:gd name="adj" fmla="val 6669"/>
            </a:avLst>
          </a:prstGeom>
          <a:solidFill>
            <a:srgbClr val="303132"/>
          </a:solidFill>
          <a:ln/>
        </p:spPr>
      </p:sp>
      <p:sp>
        <p:nvSpPr>
          <p:cNvPr id="20" name="Text 18"/>
          <p:cNvSpPr/>
          <p:nvPr/>
        </p:nvSpPr>
        <p:spPr>
          <a:xfrm>
            <a:off x="656689" y="5223629"/>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5</a:t>
            </a:r>
            <a:endParaRPr lang="en-US" sz="1750" dirty="0"/>
          </a:p>
        </p:txBody>
      </p:sp>
      <p:sp>
        <p:nvSpPr>
          <p:cNvPr id="21" name="Text 19"/>
          <p:cNvSpPr/>
          <p:nvPr/>
        </p:nvSpPr>
        <p:spPr>
          <a:xfrm>
            <a:off x="1124188" y="5235416"/>
            <a:ext cx="3410426"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energy consumption tracking</a:t>
            </a:r>
            <a:endParaRPr lang="en-US" sz="1450" dirty="0"/>
          </a:p>
        </p:txBody>
      </p:sp>
      <p:sp>
        <p:nvSpPr>
          <p:cNvPr id="22" name="Text 20"/>
          <p:cNvSpPr/>
          <p:nvPr/>
        </p:nvSpPr>
        <p:spPr>
          <a:xfrm>
            <a:off x="1124188" y="5571887"/>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Monitor electrical load for each machine to optimize costs.</a:t>
            </a:r>
            <a:endParaRPr lang="en-US" sz="1300" dirty="0"/>
          </a:p>
        </p:txBody>
      </p:sp>
      <p:sp>
        <p:nvSpPr>
          <p:cNvPr id="23" name="Shape 21"/>
          <p:cNvSpPr/>
          <p:nvPr/>
        </p:nvSpPr>
        <p:spPr>
          <a:xfrm>
            <a:off x="582930" y="6154817"/>
            <a:ext cx="374690" cy="374690"/>
          </a:xfrm>
          <a:prstGeom prst="roundRect">
            <a:avLst>
              <a:gd name="adj" fmla="val 6669"/>
            </a:avLst>
          </a:prstGeom>
          <a:solidFill>
            <a:srgbClr val="303132"/>
          </a:solidFill>
          <a:ln/>
        </p:spPr>
      </p:sp>
      <p:sp>
        <p:nvSpPr>
          <p:cNvPr id="24" name="Text 22"/>
          <p:cNvSpPr/>
          <p:nvPr/>
        </p:nvSpPr>
        <p:spPr>
          <a:xfrm>
            <a:off x="656689" y="6200180"/>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6</a:t>
            </a:r>
            <a:endParaRPr lang="en-US" sz="1750" dirty="0"/>
          </a:p>
        </p:txBody>
      </p:sp>
      <p:sp>
        <p:nvSpPr>
          <p:cNvPr id="25" name="Text 23"/>
          <p:cNvSpPr/>
          <p:nvPr/>
        </p:nvSpPr>
        <p:spPr>
          <a:xfrm>
            <a:off x="1124188" y="6211967"/>
            <a:ext cx="2315528"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KPI benchmarking</a:t>
            </a:r>
            <a:endParaRPr lang="en-US" sz="1450" dirty="0"/>
          </a:p>
        </p:txBody>
      </p:sp>
      <p:sp>
        <p:nvSpPr>
          <p:cNvPr id="26" name="Text 24"/>
          <p:cNvSpPr/>
          <p:nvPr/>
        </p:nvSpPr>
        <p:spPr>
          <a:xfrm>
            <a:off x="1124188" y="6548438"/>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Compare departments or shifts to highlight excellence or underperformance.</a:t>
            </a:r>
            <a:endParaRPr lang="en-US" sz="1300" dirty="0"/>
          </a:p>
        </p:txBody>
      </p:sp>
      <p:sp>
        <p:nvSpPr>
          <p:cNvPr id="27" name="Shape 25"/>
          <p:cNvSpPr/>
          <p:nvPr/>
        </p:nvSpPr>
        <p:spPr>
          <a:xfrm>
            <a:off x="582930" y="7131368"/>
            <a:ext cx="374690" cy="374690"/>
          </a:xfrm>
          <a:prstGeom prst="roundRect">
            <a:avLst>
              <a:gd name="adj" fmla="val 6669"/>
            </a:avLst>
          </a:prstGeom>
          <a:solidFill>
            <a:srgbClr val="303132"/>
          </a:solidFill>
          <a:ln/>
        </p:spPr>
      </p:sp>
      <p:sp>
        <p:nvSpPr>
          <p:cNvPr id="28" name="Text 26"/>
          <p:cNvSpPr/>
          <p:nvPr/>
        </p:nvSpPr>
        <p:spPr>
          <a:xfrm>
            <a:off x="656689" y="7176730"/>
            <a:ext cx="227052" cy="283845"/>
          </a:xfrm>
          <a:prstGeom prst="rect">
            <a:avLst/>
          </a:prstGeom>
          <a:noFill/>
          <a:ln/>
        </p:spPr>
        <p:txBody>
          <a:bodyPr wrap="none" lIns="0" tIns="0" rIns="0" bIns="0" rtlCol="0" anchor="t"/>
          <a:lstStyle/>
          <a:p>
            <a:pPr algn="ctr" indent="0" marL="0">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7</a:t>
            </a:r>
            <a:endParaRPr lang="en-US" sz="1750" dirty="0"/>
          </a:p>
        </p:txBody>
      </p:sp>
      <p:sp>
        <p:nvSpPr>
          <p:cNvPr id="29" name="Text 27"/>
          <p:cNvSpPr/>
          <p:nvPr/>
        </p:nvSpPr>
        <p:spPr>
          <a:xfrm>
            <a:off x="1124188" y="7188518"/>
            <a:ext cx="2328029" cy="236577"/>
          </a:xfrm>
          <a:prstGeom prst="rect">
            <a:avLst/>
          </a:prstGeom>
          <a:noFill/>
          <a:ln/>
        </p:spPr>
        <p:txBody>
          <a:bodyPr wrap="none" lIns="0" tIns="0" rIns="0" bIns="0" rtlCol="0" anchor="t"/>
          <a:lstStyle/>
          <a:p>
            <a:pPr algn="l" indent="0" marL="0">
              <a:lnSpc>
                <a:spcPts val="1850"/>
              </a:lnSpc>
              <a:buNone/>
            </a:pPr>
            <a:r>
              <a:rPr lang="en-US" sz="1450" b="1" dirty="0">
                <a:solidFill>
                  <a:srgbClr val="E2E6E9"/>
                </a:solidFill>
                <a:latin typeface="Montserrat Bold" pitchFamily="34" charset="0"/>
                <a:ea typeface="Montserrat Bold" pitchFamily="34" charset="-122"/>
                <a:cs typeface="Montserrat Bold" pitchFamily="34" charset="-120"/>
              </a:rPr>
              <a:t>Add automated reports</a:t>
            </a:r>
            <a:endParaRPr lang="en-US" sz="1450" dirty="0"/>
          </a:p>
        </p:txBody>
      </p:sp>
      <p:sp>
        <p:nvSpPr>
          <p:cNvPr id="30" name="Text 28"/>
          <p:cNvSpPr/>
          <p:nvPr/>
        </p:nvSpPr>
        <p:spPr>
          <a:xfrm>
            <a:off x="1124188" y="7524988"/>
            <a:ext cx="12923282" cy="249793"/>
          </a:xfrm>
          <a:prstGeom prst="rect">
            <a:avLst/>
          </a:prstGeom>
          <a:noFill/>
          <a:ln/>
        </p:spPr>
        <p:txBody>
          <a:bodyPr wrap="none" lIns="0" tIns="0" rIns="0" bIns="0" rtlCol="0" anchor="t"/>
          <a:lstStyle/>
          <a:p>
            <a:pPr algn="l" indent="0" marL="0">
              <a:lnSpc>
                <a:spcPts val="1950"/>
              </a:lnSpc>
              <a:buNone/>
            </a:pPr>
            <a:r>
              <a:rPr lang="en-US" sz="1300" dirty="0">
                <a:solidFill>
                  <a:srgbClr val="E2E6E9"/>
                </a:solidFill>
                <a:latin typeface="Source Sans 3" pitchFamily="34" charset="0"/>
                <a:ea typeface="Source Sans 3" pitchFamily="34" charset="-122"/>
                <a:cs typeface="Source Sans 3" pitchFamily="34" charset="-120"/>
              </a:rPr>
              <a:t>Daily/weekly reports sent to email with insights and summaries.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21293" y="645319"/>
            <a:ext cx="9198293" cy="674132"/>
          </a:xfrm>
          <a:prstGeom prst="rect">
            <a:avLst/>
          </a:prstGeom>
          <a:noFill/>
          <a:ln/>
        </p:spPr>
        <p:txBody>
          <a:bodyPr wrap="none" lIns="0" tIns="0" rIns="0" bIns="0" rtlCol="0" anchor="t"/>
          <a:lstStyle/>
          <a:p>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a:t>
            </a:r>
            <a:pPr algn="l" indent="0" marL="0">
              <a:lnSpc>
                <a:spcPts val="5200"/>
              </a:lnSpc>
              <a:buNone/>
            </a:pPr>
            <a:r>
              <a:rPr lang="en-US" sz="4150" b="1" dirty="0">
                <a:solidFill>
                  <a:srgbClr val="FFFFFF"/>
                </a:solidFill>
                <a:latin typeface="Montserrat Bold" pitchFamily="34" charset="0"/>
                <a:ea typeface="Montserrat Bold" pitchFamily="34" charset="-122"/>
                <a:cs typeface="Montserrat Bold" pitchFamily="34" charset="-120"/>
              </a:rPr>
              <a:t> How to Market This Project </a:t>
            </a:r>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a:t>
            </a:r>
            <a:endParaRPr lang="en-US" sz="4150" dirty="0"/>
          </a:p>
        </p:txBody>
      </p:sp>
      <p:sp>
        <p:nvSpPr>
          <p:cNvPr id="3" name="Text 1"/>
          <p:cNvSpPr/>
          <p:nvPr/>
        </p:nvSpPr>
        <p:spPr>
          <a:xfrm>
            <a:off x="821293" y="1413272"/>
            <a:ext cx="4266605" cy="533400"/>
          </a:xfrm>
          <a:prstGeom prst="rect">
            <a:avLst/>
          </a:prstGeom>
          <a:noFill/>
          <a:ln/>
        </p:spPr>
        <p:txBody>
          <a:bodyPr wrap="none" lIns="0" tIns="0" rIns="0" bIns="0" rtlCol="0" anchor="t"/>
          <a:lstStyle/>
          <a:p>
            <a:pPr algn="l" indent="0" marL="0">
              <a:lnSpc>
                <a:spcPts val="4150"/>
              </a:lnSpc>
              <a:buNone/>
            </a:pPr>
            <a:r>
              <a:rPr lang="en-US" sz="3350" b="1" dirty="0">
                <a:solidFill>
                  <a:srgbClr val="FFFFFF"/>
                </a:solidFill>
                <a:latin typeface="Montserrat Bold" pitchFamily="34" charset="0"/>
                <a:ea typeface="Montserrat Bold" pitchFamily="34" charset="-122"/>
                <a:cs typeface="Montserrat Bold" pitchFamily="34" charset="-120"/>
              </a:rPr>
              <a:t>Target Audience</a:t>
            </a:r>
            <a:endParaRPr lang="en-US" sz="3350" dirty="0"/>
          </a:p>
        </p:txBody>
      </p:sp>
      <p:sp>
        <p:nvSpPr>
          <p:cNvPr id="4" name="Text 2"/>
          <p:cNvSpPr/>
          <p:nvPr/>
        </p:nvSpPr>
        <p:spPr>
          <a:xfrm>
            <a:off x="821293" y="2298621"/>
            <a:ext cx="12987814" cy="351949"/>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E2E6E9"/>
                </a:solidFill>
                <a:latin typeface="Source Sans 3" pitchFamily="34" charset="0"/>
                <a:ea typeface="Source Sans 3" pitchFamily="34" charset="-122"/>
                <a:cs typeface="Source Sans 3" pitchFamily="34" charset="-120"/>
              </a:rPr>
              <a:t>Factory directors</a:t>
            </a:r>
            <a:endParaRPr lang="en-US" sz="1800" dirty="0"/>
          </a:p>
        </p:txBody>
      </p:sp>
      <p:sp>
        <p:nvSpPr>
          <p:cNvPr id="5" name="Text 3"/>
          <p:cNvSpPr/>
          <p:nvPr/>
        </p:nvSpPr>
        <p:spPr>
          <a:xfrm>
            <a:off x="821293" y="2732603"/>
            <a:ext cx="12987814" cy="351949"/>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E2E6E9"/>
                </a:solidFill>
                <a:latin typeface="Source Sans 3" pitchFamily="34" charset="0"/>
                <a:ea typeface="Source Sans 3" pitchFamily="34" charset="-122"/>
                <a:cs typeface="Source Sans 3" pitchFamily="34" charset="-120"/>
              </a:rPr>
              <a:t>Operations managers</a:t>
            </a:r>
            <a:endParaRPr lang="en-US" sz="1800" dirty="0"/>
          </a:p>
        </p:txBody>
      </p:sp>
      <p:sp>
        <p:nvSpPr>
          <p:cNvPr id="6" name="Text 4"/>
          <p:cNvSpPr/>
          <p:nvPr/>
        </p:nvSpPr>
        <p:spPr>
          <a:xfrm>
            <a:off x="821293" y="3166586"/>
            <a:ext cx="12987814" cy="351949"/>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E2E6E9"/>
                </a:solidFill>
                <a:latin typeface="Source Sans 3" pitchFamily="34" charset="0"/>
                <a:ea typeface="Source Sans 3" pitchFamily="34" charset="-122"/>
                <a:cs typeface="Source Sans 3" pitchFamily="34" charset="-120"/>
              </a:rPr>
              <a:t>Maintenance teams</a:t>
            </a:r>
            <a:endParaRPr lang="en-US" sz="1800" dirty="0"/>
          </a:p>
        </p:txBody>
      </p:sp>
      <p:sp>
        <p:nvSpPr>
          <p:cNvPr id="7" name="Text 5"/>
          <p:cNvSpPr/>
          <p:nvPr/>
        </p:nvSpPr>
        <p:spPr>
          <a:xfrm>
            <a:off x="821293" y="3600569"/>
            <a:ext cx="12987814" cy="351949"/>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E2E6E9"/>
                </a:solidFill>
                <a:latin typeface="Source Sans 3" pitchFamily="34" charset="0"/>
                <a:ea typeface="Source Sans 3" pitchFamily="34" charset="-122"/>
                <a:cs typeface="Source Sans 3" pitchFamily="34" charset="-120"/>
              </a:rPr>
              <a:t>Production managers</a:t>
            </a:r>
            <a:endParaRPr lang="en-US" sz="1800" dirty="0"/>
          </a:p>
        </p:txBody>
      </p:sp>
      <p:sp>
        <p:nvSpPr>
          <p:cNvPr id="8" name="Text 6"/>
          <p:cNvSpPr/>
          <p:nvPr/>
        </p:nvSpPr>
        <p:spPr>
          <a:xfrm>
            <a:off x="821293" y="4034552"/>
            <a:ext cx="12987814" cy="351949"/>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E2E6E9"/>
                </a:solidFill>
                <a:latin typeface="Source Sans 3" pitchFamily="34" charset="0"/>
                <a:ea typeface="Source Sans 3" pitchFamily="34" charset="-122"/>
                <a:cs typeface="Source Sans 3" pitchFamily="34" charset="-120"/>
              </a:rPr>
              <a:t>Quality control departments</a:t>
            </a:r>
            <a:endParaRPr lang="en-US" sz="1800" dirty="0"/>
          </a:p>
        </p:txBody>
      </p:sp>
      <p:sp>
        <p:nvSpPr>
          <p:cNvPr id="9" name="Text 7"/>
          <p:cNvSpPr/>
          <p:nvPr/>
        </p:nvSpPr>
        <p:spPr>
          <a:xfrm>
            <a:off x="821293" y="4738449"/>
            <a:ext cx="4310896" cy="533400"/>
          </a:xfrm>
          <a:prstGeom prst="rect">
            <a:avLst/>
          </a:prstGeom>
          <a:noFill/>
          <a:ln/>
        </p:spPr>
        <p:txBody>
          <a:bodyPr wrap="none" lIns="0" tIns="0" rIns="0" bIns="0" rtlCol="0" anchor="t"/>
          <a:lstStyle/>
          <a:p>
            <a:pPr algn="l" indent="0" marL="0">
              <a:lnSpc>
                <a:spcPts val="4150"/>
              </a:lnSpc>
              <a:buNone/>
            </a:pPr>
            <a:r>
              <a:rPr lang="en-US" sz="3350" b="1" dirty="0">
                <a:solidFill>
                  <a:srgbClr val="FFFFFF"/>
                </a:solidFill>
                <a:latin typeface="Montserrat Bold" pitchFamily="34" charset="0"/>
                <a:ea typeface="Montserrat Bold" pitchFamily="34" charset="-122"/>
                <a:cs typeface="Montserrat Bold" pitchFamily="34" charset="-120"/>
              </a:rPr>
              <a:t>Marketing Strategy</a:t>
            </a:r>
            <a:endParaRPr lang="en-US" sz="3350" dirty="0"/>
          </a:p>
        </p:txBody>
      </p:sp>
      <p:sp>
        <p:nvSpPr>
          <p:cNvPr id="10" name="Shape 8"/>
          <p:cNvSpPr/>
          <p:nvPr/>
        </p:nvSpPr>
        <p:spPr>
          <a:xfrm>
            <a:off x="821293" y="5623798"/>
            <a:ext cx="527923" cy="527923"/>
          </a:xfrm>
          <a:prstGeom prst="roundRect">
            <a:avLst>
              <a:gd name="adj" fmla="val 6668"/>
            </a:avLst>
          </a:prstGeom>
          <a:solidFill>
            <a:srgbClr val="303132"/>
          </a:solidFill>
          <a:ln/>
        </p:spPr>
      </p:sp>
      <p:sp>
        <p:nvSpPr>
          <p:cNvPr id="11" name="Text 9"/>
          <p:cNvSpPr/>
          <p:nvPr/>
        </p:nvSpPr>
        <p:spPr>
          <a:xfrm>
            <a:off x="925294" y="5687794"/>
            <a:ext cx="319921" cy="399931"/>
          </a:xfrm>
          <a:prstGeom prst="rect">
            <a:avLst/>
          </a:prstGeom>
          <a:noFill/>
          <a:ln/>
        </p:spPr>
        <p:txBody>
          <a:bodyPr wrap="none" lIns="0" tIns="0" rIns="0" bIns="0" rtlCol="0" anchor="t"/>
          <a:lstStyle/>
          <a:p>
            <a:pPr algn="ctr" indent="0" marL="0">
              <a:lnSpc>
                <a:spcPts val="2500"/>
              </a:lnSpc>
              <a:buNone/>
            </a:pPr>
            <a:r>
              <a:rPr lang="en-US" sz="2500" b="1" dirty="0">
                <a:solidFill>
                  <a:srgbClr val="E2E6E9"/>
                </a:solidFill>
                <a:latin typeface="Montserrat Bold" pitchFamily="34" charset="0"/>
                <a:ea typeface="Montserrat Bold" pitchFamily="34" charset="-122"/>
                <a:cs typeface="Montserrat Bold" pitchFamily="34" charset="-120"/>
              </a:rPr>
              <a:t>1</a:t>
            </a:r>
            <a:endParaRPr lang="en-US" sz="2500" dirty="0"/>
          </a:p>
        </p:txBody>
      </p:sp>
      <p:sp>
        <p:nvSpPr>
          <p:cNvPr id="12" name="Text 10"/>
          <p:cNvSpPr/>
          <p:nvPr/>
        </p:nvSpPr>
        <p:spPr>
          <a:xfrm>
            <a:off x="1583769" y="5704403"/>
            <a:ext cx="2666524" cy="333375"/>
          </a:xfrm>
          <a:prstGeom prst="rect">
            <a:avLst/>
          </a:prstGeom>
          <a:noFill/>
          <a:ln/>
        </p:spPr>
        <p:txBody>
          <a:bodyPr wrap="none" lIns="0" tIns="0" rIns="0" bIns="0" rtlCol="0" anchor="t"/>
          <a:lstStyle/>
          <a:p>
            <a:pPr algn="l" indent="0" marL="0">
              <a:lnSpc>
                <a:spcPts val="2600"/>
              </a:lnSpc>
              <a:buNone/>
            </a:pPr>
            <a:r>
              <a:rPr lang="en-US" sz="2050" b="1" dirty="0">
                <a:solidFill>
                  <a:srgbClr val="E2E6E9"/>
                </a:solidFill>
                <a:latin typeface="Montserrat Bold" pitchFamily="34" charset="0"/>
                <a:ea typeface="Montserrat Bold" pitchFamily="34" charset="-122"/>
                <a:cs typeface="Montserrat Bold" pitchFamily="34" charset="-120"/>
              </a:rPr>
              <a:t>Focus on ROI</a:t>
            </a:r>
            <a:endParaRPr lang="en-US" sz="2050" dirty="0"/>
          </a:p>
        </p:txBody>
      </p:sp>
      <p:sp>
        <p:nvSpPr>
          <p:cNvPr id="13" name="Text 11"/>
          <p:cNvSpPr/>
          <p:nvPr/>
        </p:nvSpPr>
        <p:spPr>
          <a:xfrm>
            <a:off x="1583769" y="6178510"/>
            <a:ext cx="5584746" cy="1407795"/>
          </a:xfrm>
          <a:prstGeom prst="rect">
            <a:avLst/>
          </a:prstGeom>
          <a:noFill/>
          <a:ln/>
        </p:spPr>
        <p:txBody>
          <a:bodyPr wrap="square" lIns="0" tIns="0" rIns="0" bIns="0" rtlCol="0" anchor="t"/>
          <a:lstStyle/>
          <a:p>
            <a:pPr algn="l" indent="0" marL="0">
              <a:lnSpc>
                <a:spcPts val="2750"/>
              </a:lnSpc>
              <a:buNone/>
            </a:pPr>
            <a:r>
              <a:rPr lang="en-US" sz="1800" dirty="0">
                <a:solidFill>
                  <a:srgbClr val="E2E6E9"/>
                </a:solidFill>
                <a:latin typeface="Source Sans 3" pitchFamily="34" charset="0"/>
                <a:ea typeface="Source Sans 3" pitchFamily="34" charset="-122"/>
                <a:cs typeface="Source Sans 3" pitchFamily="34" charset="-120"/>
              </a:rPr>
              <a:t>Show how the system reduces downtime, improves productivity, decreases maintenance cost, and saves management time. Use real examples if possible (e.g., "reduced downtime by 20%").</a:t>
            </a:r>
            <a:endParaRPr lang="en-US" sz="1800" dirty="0"/>
          </a:p>
        </p:txBody>
      </p:sp>
      <p:sp>
        <p:nvSpPr>
          <p:cNvPr id="14" name="Shape 12"/>
          <p:cNvSpPr/>
          <p:nvPr/>
        </p:nvSpPr>
        <p:spPr>
          <a:xfrm>
            <a:off x="7461766" y="5623798"/>
            <a:ext cx="527923" cy="527923"/>
          </a:xfrm>
          <a:prstGeom prst="roundRect">
            <a:avLst>
              <a:gd name="adj" fmla="val 6668"/>
            </a:avLst>
          </a:prstGeom>
          <a:solidFill>
            <a:srgbClr val="303132"/>
          </a:solidFill>
          <a:ln/>
        </p:spPr>
      </p:sp>
      <p:sp>
        <p:nvSpPr>
          <p:cNvPr id="15" name="Text 13"/>
          <p:cNvSpPr/>
          <p:nvPr/>
        </p:nvSpPr>
        <p:spPr>
          <a:xfrm>
            <a:off x="7565767" y="5687794"/>
            <a:ext cx="319921" cy="399931"/>
          </a:xfrm>
          <a:prstGeom prst="rect">
            <a:avLst/>
          </a:prstGeom>
          <a:noFill/>
          <a:ln/>
        </p:spPr>
        <p:txBody>
          <a:bodyPr wrap="none" lIns="0" tIns="0" rIns="0" bIns="0" rtlCol="0" anchor="t"/>
          <a:lstStyle/>
          <a:p>
            <a:pPr algn="ctr" indent="0" marL="0">
              <a:lnSpc>
                <a:spcPts val="2500"/>
              </a:lnSpc>
              <a:buNone/>
            </a:pPr>
            <a:r>
              <a:rPr lang="en-US" sz="2500" b="1" dirty="0">
                <a:solidFill>
                  <a:srgbClr val="E2E6E9"/>
                </a:solidFill>
                <a:latin typeface="Montserrat Bold" pitchFamily="34" charset="0"/>
                <a:ea typeface="Montserrat Bold" pitchFamily="34" charset="-122"/>
                <a:cs typeface="Montserrat Bold" pitchFamily="34" charset="-120"/>
              </a:rPr>
              <a:t>2</a:t>
            </a:r>
            <a:endParaRPr lang="en-US" sz="2500" dirty="0"/>
          </a:p>
        </p:txBody>
      </p:sp>
      <p:sp>
        <p:nvSpPr>
          <p:cNvPr id="16" name="Text 14"/>
          <p:cNvSpPr/>
          <p:nvPr/>
        </p:nvSpPr>
        <p:spPr>
          <a:xfrm>
            <a:off x="8224242" y="5704403"/>
            <a:ext cx="4182428" cy="333375"/>
          </a:xfrm>
          <a:prstGeom prst="rect">
            <a:avLst/>
          </a:prstGeom>
          <a:noFill/>
          <a:ln/>
        </p:spPr>
        <p:txBody>
          <a:bodyPr wrap="none" lIns="0" tIns="0" rIns="0" bIns="0" rtlCol="0" anchor="t"/>
          <a:lstStyle/>
          <a:p>
            <a:pPr algn="l" indent="0" marL="0">
              <a:lnSpc>
                <a:spcPts val="2600"/>
              </a:lnSpc>
              <a:buNone/>
            </a:pPr>
            <a:r>
              <a:rPr lang="en-US" sz="2050" b="1" dirty="0">
                <a:solidFill>
                  <a:srgbClr val="E2E6E9"/>
                </a:solidFill>
                <a:latin typeface="Montserrat Bold" pitchFamily="34" charset="0"/>
                <a:ea typeface="Montserrat Bold" pitchFamily="34" charset="-122"/>
                <a:cs typeface="Montserrat Bold" pitchFamily="34" charset="-120"/>
              </a:rPr>
              <a:t>Use before &amp; after storytelling</a:t>
            </a:r>
            <a:endParaRPr lang="en-US" sz="2050" dirty="0"/>
          </a:p>
        </p:txBody>
      </p:sp>
      <p:sp>
        <p:nvSpPr>
          <p:cNvPr id="17" name="Text 15"/>
          <p:cNvSpPr/>
          <p:nvPr/>
        </p:nvSpPr>
        <p:spPr>
          <a:xfrm>
            <a:off x="8224242" y="6178510"/>
            <a:ext cx="5584865" cy="1407795"/>
          </a:xfrm>
          <a:prstGeom prst="rect">
            <a:avLst/>
          </a:prstGeom>
          <a:noFill/>
          <a:ln/>
        </p:spPr>
        <p:txBody>
          <a:bodyPr wrap="square" lIns="0" tIns="0" rIns="0" bIns="0" rtlCol="0" anchor="t"/>
          <a:lstStyle/>
          <a:p>
            <a:pPr algn="l" indent="0" marL="0">
              <a:lnSpc>
                <a:spcPts val="2750"/>
              </a:lnSpc>
              <a:buNone/>
            </a:pPr>
            <a:r>
              <a:rPr lang="en-US" sz="1800" dirty="0">
                <a:solidFill>
                  <a:srgbClr val="E2E6E9"/>
                </a:solidFill>
                <a:latin typeface="Source Sans 3" pitchFamily="34" charset="0"/>
                <a:ea typeface="Source Sans 3" pitchFamily="34" charset="-122"/>
                <a:cs typeface="Source Sans 3" pitchFamily="34" charset="-120"/>
              </a:rPr>
              <a:t>Show how factories currently operate with slow reporting, manual tracking, missed failures, and expensive downtime. Then show your dashboard replacing all of this instantly.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2025-11-30T19:28:59Z</dcterms:created>
  <dcterms:modified xsi:type="dcterms:W3CDTF">2025-11-30T19:28:59Z</dcterms:modified>
</cp:coreProperties>
</file>